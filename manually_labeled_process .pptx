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0" r:id="rId2"/>
    <p:sldId id="261" r:id="rId3"/>
    <p:sldId id="262" r:id="rId4"/>
  </p:sldIdLst>
  <p:sldSz cx="14401800" cy="5400675"/>
  <p:notesSz cx="6858000" cy="9144000"/>
  <p:defaultTextStyle>
    <a:defPPr>
      <a:defRPr lang="he-IL"/>
    </a:defPPr>
    <a:lvl1pPr marL="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8465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6930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539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385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232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0789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29254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47718" algn="r" defTabSz="1036930" rtl="1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8"/>
  </p:normalViewPr>
  <p:slideViewPr>
    <p:cSldViewPr>
      <p:cViewPr>
        <p:scale>
          <a:sx n="98" d="100"/>
          <a:sy n="98" d="100"/>
        </p:scale>
        <p:origin x="624" y="1112"/>
      </p:cViewPr>
      <p:guideLst>
        <p:guide orient="horz" pos="1701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80135" y="1677711"/>
            <a:ext cx="12241531" cy="115764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60271" y="3060383"/>
            <a:ext cx="10081260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6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55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73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92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10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29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4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37643" y="3470435"/>
            <a:ext cx="12241531" cy="1072634"/>
          </a:xfrm>
        </p:spPr>
        <p:txBody>
          <a:bodyPr anchor="t"/>
          <a:lstStyle>
            <a:lvl1pPr algn="r">
              <a:defRPr sz="45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137643" y="2289038"/>
            <a:ext cx="12241531" cy="118139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69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55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738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923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10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29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47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720091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320915" y="1260158"/>
            <a:ext cx="6360795" cy="3564196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08903"/>
            <a:ext cx="63632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20091" y="1712714"/>
            <a:ext cx="63632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7315917" y="1208903"/>
            <a:ext cx="6365796" cy="50381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8465" indent="0">
              <a:buNone/>
              <a:defRPr sz="2300" b="1"/>
            </a:lvl2pPr>
            <a:lvl3pPr marL="1036930" indent="0">
              <a:buNone/>
              <a:defRPr sz="2000" b="1"/>
            </a:lvl3pPr>
            <a:lvl4pPr marL="1555394" indent="0">
              <a:buNone/>
              <a:defRPr sz="1800" b="1"/>
            </a:lvl4pPr>
            <a:lvl5pPr marL="2073859" indent="0">
              <a:buNone/>
              <a:defRPr sz="1800" b="1"/>
            </a:lvl5pPr>
            <a:lvl6pPr marL="2592324" indent="0">
              <a:buNone/>
              <a:defRPr sz="1800" b="1"/>
            </a:lvl6pPr>
            <a:lvl7pPr marL="3110789" indent="0">
              <a:buNone/>
              <a:defRPr sz="1800" b="1"/>
            </a:lvl7pPr>
            <a:lvl8pPr marL="3629254" indent="0">
              <a:buNone/>
              <a:defRPr sz="1800" b="1"/>
            </a:lvl8pPr>
            <a:lvl9pPr marL="4147718" indent="0">
              <a:buNone/>
              <a:defRPr sz="18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7315917" y="1712714"/>
            <a:ext cx="6365796" cy="311163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0092" y="215027"/>
            <a:ext cx="4738093" cy="915115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30705" y="215029"/>
            <a:ext cx="8051007" cy="4609327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720092" y="1130143"/>
            <a:ext cx="4738093" cy="3694212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822853" y="3780473"/>
            <a:ext cx="8641080" cy="446307"/>
          </a:xfrm>
        </p:spPr>
        <p:txBody>
          <a:bodyPr anchor="b"/>
          <a:lstStyle>
            <a:lvl1pPr algn="r">
              <a:defRPr sz="2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ציור 2"/>
          <p:cNvSpPr>
            <a:spLocks noGrp="1"/>
          </p:cNvSpPr>
          <p:nvPr>
            <p:ph type="pic" idx="1"/>
          </p:nvPr>
        </p:nvSpPr>
        <p:spPr>
          <a:xfrm>
            <a:off x="2822853" y="482561"/>
            <a:ext cx="8641080" cy="3240405"/>
          </a:xfrm>
        </p:spPr>
        <p:txBody>
          <a:bodyPr/>
          <a:lstStyle>
            <a:lvl1pPr marL="0" indent="0">
              <a:buNone/>
              <a:defRPr sz="3600"/>
            </a:lvl1pPr>
            <a:lvl2pPr marL="518465" indent="0">
              <a:buNone/>
              <a:defRPr sz="3200"/>
            </a:lvl2pPr>
            <a:lvl3pPr marL="1036930" indent="0">
              <a:buNone/>
              <a:defRPr sz="2700"/>
            </a:lvl3pPr>
            <a:lvl4pPr marL="1555394" indent="0">
              <a:buNone/>
              <a:defRPr sz="2300"/>
            </a:lvl4pPr>
            <a:lvl5pPr marL="2073859" indent="0">
              <a:buNone/>
              <a:defRPr sz="2300"/>
            </a:lvl5pPr>
            <a:lvl6pPr marL="2592324" indent="0">
              <a:buNone/>
              <a:defRPr sz="2300"/>
            </a:lvl6pPr>
            <a:lvl7pPr marL="3110789" indent="0">
              <a:buNone/>
              <a:defRPr sz="2300"/>
            </a:lvl7pPr>
            <a:lvl8pPr marL="3629254" indent="0">
              <a:buNone/>
              <a:defRPr sz="2300"/>
            </a:lvl8pPr>
            <a:lvl9pPr marL="4147718" indent="0">
              <a:buNone/>
              <a:defRPr sz="23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822853" y="4226780"/>
            <a:ext cx="8641080" cy="633829"/>
          </a:xfrm>
        </p:spPr>
        <p:txBody>
          <a:bodyPr/>
          <a:lstStyle>
            <a:lvl1pPr marL="0" indent="0">
              <a:buNone/>
              <a:defRPr sz="1600"/>
            </a:lvl1pPr>
            <a:lvl2pPr marL="518465" indent="0">
              <a:buNone/>
              <a:defRPr sz="1400"/>
            </a:lvl2pPr>
            <a:lvl3pPr marL="1036930" indent="0">
              <a:buNone/>
              <a:defRPr sz="1100"/>
            </a:lvl3pPr>
            <a:lvl4pPr marL="1555394" indent="0">
              <a:buNone/>
              <a:defRPr sz="1000"/>
            </a:lvl4pPr>
            <a:lvl5pPr marL="2073859" indent="0">
              <a:buNone/>
              <a:defRPr sz="1000"/>
            </a:lvl5pPr>
            <a:lvl6pPr marL="2592324" indent="0">
              <a:buNone/>
              <a:defRPr sz="1000"/>
            </a:lvl6pPr>
            <a:lvl7pPr marL="3110789" indent="0">
              <a:buNone/>
              <a:defRPr sz="1000"/>
            </a:lvl7pPr>
            <a:lvl8pPr marL="3629254" indent="0">
              <a:buNone/>
              <a:defRPr sz="1000"/>
            </a:lvl8pPr>
            <a:lvl9pPr marL="4147718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0441306" y="216278"/>
            <a:ext cx="3240405" cy="460807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720090" y="216278"/>
            <a:ext cx="9481185" cy="460807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720091" y="216279"/>
            <a:ext cx="12961620" cy="900113"/>
          </a:xfrm>
          <a:prstGeom prst="rect">
            <a:avLst/>
          </a:prstGeom>
        </p:spPr>
        <p:txBody>
          <a:bodyPr vert="horz" lIns="103693" tIns="51846" rIns="103693" bIns="51846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0091" y="1260158"/>
            <a:ext cx="12961620" cy="3564196"/>
          </a:xfrm>
          <a:prstGeom prst="rect">
            <a:avLst/>
          </a:prstGeom>
        </p:spPr>
        <p:txBody>
          <a:bodyPr vert="horz" lIns="103693" tIns="51846" rIns="103693" bIns="51846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03212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438E1-117D-44FB-AC24-B79D899BA877}" type="datetimeFigureOut">
              <a:rPr lang="he-IL" smtClean="0"/>
              <a:t>כ"ז.אייר.תשפ"ו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920615" y="5005626"/>
            <a:ext cx="4560571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720091" y="5005626"/>
            <a:ext cx="3360420" cy="287536"/>
          </a:xfrm>
          <a:prstGeom prst="rect">
            <a:avLst/>
          </a:prstGeom>
        </p:spPr>
        <p:txBody>
          <a:bodyPr vert="horz" lIns="103693" tIns="51846" rIns="103693" bIns="51846" rtlCol="1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36930" rtl="1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849" indent="-388849" algn="r" defTabSz="1036930" rtl="1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2505" indent="-324041" algn="r" defTabSz="1036930" rtl="1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162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14627" indent="-259232" algn="r" defTabSz="1036930" rtl="1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3092" indent="-259232" algn="r" defTabSz="1036930" rtl="1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155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002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486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06951" indent="-259232" algn="r" defTabSz="1036930" rtl="1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8465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539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385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232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789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29254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47718" algn="r" defTabSz="1036930" rtl="1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401B-6D3F-C946-688D-A64EF93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AE4DA8-19EF-46CA-B220-8BA915BC7B8E}"/>
              </a:ext>
            </a:extLst>
          </p:cNvPr>
          <p:cNvGrpSpPr/>
          <p:nvPr/>
        </p:nvGrpSpPr>
        <p:grpSpPr>
          <a:xfrm>
            <a:off x="336052" y="366389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27298BAE-AE6D-AC07-9BDD-745C64FC7CB2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C0047C1-F4FB-5F57-74AA-8C584638441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77D6656-6848-8649-FCA2-0872AC37C492}"/>
                  </a:ext>
                </a:extLst>
              </p:cNvPr>
              <p:cNvSpPr/>
              <p:nvPr/>
            </p:nvSpPr>
            <p:spPr>
              <a:xfrm>
                <a:off x="5175798" y="3788157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87D90C8-EA50-4E95-65EA-E6ACC8626002}"/>
                  </a:ext>
                </a:extLst>
              </p:cNvPr>
              <p:cNvSpPr/>
              <p:nvPr/>
            </p:nvSpPr>
            <p:spPr>
              <a:xfrm>
                <a:off x="8591299" y="357389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521FF19-DB97-2B54-4CAD-D27BE2528E03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101BC93-80FD-3646-97E4-8C1BB45BC920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FDB46A35-9F1E-0B0B-830D-AE3D4EC94B6C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8766AAB-1B3E-5541-D619-CA7C0BC2CCB8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AC20395-5FAF-DB32-135F-544E43348B2B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A9BC509C-F161-0685-773C-5169AE3CBB57}"/>
                  </a:ext>
                </a:extLst>
              </p:cNvPr>
              <p:cNvSpPr/>
              <p:nvPr/>
            </p:nvSpPr>
            <p:spPr>
              <a:xfrm>
                <a:off x="1362822" y="2064748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061F2E3A-2EDD-2973-617F-D8785ECB7467}"/>
                  </a:ext>
                </a:extLst>
              </p:cNvPr>
              <p:cNvSpPr/>
              <p:nvPr/>
            </p:nvSpPr>
            <p:spPr>
              <a:xfrm>
                <a:off x="3554923" y="4099768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B1A393AA-29A1-085F-D392-70183BECF6B0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             Is the profile suspended/empty/private (no info)?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E8F5BDD2-BD8A-05B0-8C93-777FC7251CEC}"/>
                  </a:ext>
                </a:extLst>
              </p:cNvPr>
              <p:cNvSpPr/>
              <p:nvPr/>
            </p:nvSpPr>
            <p:spPr bwMode="auto">
              <a:xfrm>
                <a:off x="8784584" y="903075"/>
                <a:ext cx="1010108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D84339C6-5A3C-EC83-240A-F87AFA3E5A2E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Clear non-Iranian identity?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A4B1A7A5-8D71-9067-F85C-721243292CBF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813378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Does the bio, display name, or username mention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kern="600" dirty="0">
                    <a:solidFill>
                      <a:schemeClr val="tx1"/>
                    </a:solidFill>
                  </a:rPr>
                  <a:t>Iran / Iranian / Persian / Persia, or an Iranian city ?</a:t>
                </a: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F01A00B-B009-50DE-556F-688A5FB6CCDC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Personal Posts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that indicate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The person is Iranian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67B90F7C-9713-C1A8-346B-9C9B7AF9433E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Not 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37F751CC-7834-6A8F-8FC4-D1FAA2C7643A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A704DEA9-A088-5676-FABD-3012CC39F7DF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location indicate Iranian city?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AEB32A6C-2F39-4F35-3AA4-A48B98DAA58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6676" y="3493035"/>
                <a:ext cx="2578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1B985137-CF69-991C-B0D5-7765902C1FFA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1E0C2EF2-4121-AEE7-A177-647E72B832FB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087EE071-105D-66F8-AF97-6273BC5B75DC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73996" y="1145681"/>
                <a:ext cx="601018" cy="1849497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7" name="Straight Arrow Connector 60">
                <a:extLst>
                  <a:ext uri="{FF2B5EF4-FFF2-40B4-BE49-F238E27FC236}">
                    <a16:creationId xmlns:a16="http://schemas.microsoft.com/office/drawing/2014/main" id="{318743E8-C9AF-3874-5511-93D61F7CB773}"/>
                  </a:ext>
                </a:extLst>
              </p:cNvPr>
              <p:cNvCxnSpPr>
                <a:cxnSpLocks/>
                <a:stCxn id="151" idx="1"/>
                <a:endCxn id="152" idx="0"/>
              </p:cNvCxnSpPr>
              <p:nvPr/>
            </p:nvCxnSpPr>
            <p:spPr>
              <a:xfrm rot="16200000" flipH="1">
                <a:off x="8004125" y="-382438"/>
                <a:ext cx="439116" cy="2131910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4115AA71-148D-1BDD-74FA-18036F4986A6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98131" y="-984414"/>
                <a:ext cx="411224" cy="3307971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E8501D9A-2224-2F52-F2A7-CA345A19553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EA97D12E-2D08-1893-44F2-9AA584F13294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F4A82E8-A4D5-7FBE-1E6D-A6C4593F61ED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160239" cy="311018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FA7BCE6-D049-B53A-CA2F-F67A6A5EECAF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56570" y="1085660"/>
                <a:ext cx="608926" cy="197744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909D7676-345C-DFF8-82F4-2F753D43C891}"/>
                  </a:ext>
                </a:extLst>
              </p:cNvPr>
              <p:cNvSpPr/>
              <p:nvPr/>
            </p:nvSpPr>
            <p:spPr bwMode="auto">
              <a:xfrm>
                <a:off x="5202529" y="4346658"/>
                <a:ext cx="988294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Target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FEECE28A-7972-B636-BD78-C4DC4DD696ED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35BCFEF-A438-F703-2045-77E7EB031B6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9A4A14-2D1D-B2A2-D275-3FCD786EBC71}"/>
              </a:ext>
            </a:extLst>
          </p:cNvPr>
          <p:cNvCxnSpPr>
            <a:cxnSpLocks/>
            <a:stCxn id="168" idx="1"/>
          </p:cNvCxnSpPr>
          <p:nvPr/>
        </p:nvCxnSpPr>
        <p:spPr>
          <a:xfrm>
            <a:off x="8609327" y="3765656"/>
            <a:ext cx="0" cy="460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BFD8E1-B337-9467-919C-E020B9817B6C}"/>
              </a:ext>
            </a:extLst>
          </p:cNvPr>
          <p:cNvSpPr/>
          <p:nvPr/>
        </p:nvSpPr>
        <p:spPr bwMode="auto">
          <a:xfrm>
            <a:off x="8072895" y="4244853"/>
            <a:ext cx="1074508" cy="371458"/>
          </a:xfrm>
          <a:prstGeom prst="roundRect">
            <a:avLst/>
          </a:prstGeom>
          <a:solidFill>
            <a:schemeClr val="accent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 anchor="ctr"/>
          <a:lstStyle>
            <a:defPPr>
              <a:defRPr lang="de-DE"/>
            </a:defPPr>
            <a:lvl1pPr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E20074"/>
              </a:buClr>
            </a:pPr>
            <a:r>
              <a:rPr lang="en-US" sz="1800" kern="600" dirty="0">
                <a:solidFill>
                  <a:schemeClr val="tx1"/>
                </a:solidFill>
              </a:rPr>
              <a:t>Target</a:t>
            </a:r>
            <a:endParaRPr lang="he-IL" sz="1800" kern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4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2B3B-A90C-04B0-5F89-EA8DCF9E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CEEC87-CDB5-0947-25A3-B2D7A53B4D51}"/>
              </a:ext>
            </a:extLst>
          </p:cNvPr>
          <p:cNvGrpSpPr/>
          <p:nvPr/>
        </p:nvGrpSpPr>
        <p:grpSpPr>
          <a:xfrm>
            <a:off x="288133" y="180057"/>
            <a:ext cx="13729695" cy="4667895"/>
            <a:chOff x="288133" y="180057"/>
            <a:chExt cx="13729695" cy="4667895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9001CCE-E274-9D29-3C5B-FF90CC55AEDE}"/>
                </a:ext>
              </a:extLst>
            </p:cNvPr>
            <p:cNvGrpSpPr/>
            <p:nvPr/>
          </p:nvGrpSpPr>
          <p:grpSpPr>
            <a:xfrm>
              <a:off x="288133" y="180057"/>
              <a:ext cx="13729695" cy="4667895"/>
              <a:chOff x="792189" y="94601"/>
              <a:chExt cx="13729695" cy="4667895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0891DB2-C7C2-AE6D-596D-AD93C16AD222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952B59C-31DD-2CF1-47D1-967471B1D800}"/>
                  </a:ext>
                </a:extLst>
              </p:cNvPr>
              <p:cNvSpPr/>
              <p:nvPr/>
            </p:nvSpPr>
            <p:spPr>
              <a:xfrm>
                <a:off x="5184676" y="404296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6F3D09F3-7D36-C132-72C9-53A4CE07FF1A}"/>
                  </a:ext>
                </a:extLst>
              </p:cNvPr>
              <p:cNvSpPr/>
              <p:nvPr/>
            </p:nvSpPr>
            <p:spPr>
              <a:xfrm>
                <a:off x="8489134" y="3767009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03B3556-0393-0D5F-1B4C-719AA3CACED5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1AEC7A8-3723-6961-43ED-360EC57F17E5}"/>
                  </a:ext>
                </a:extLst>
              </p:cNvPr>
              <p:cNvSpPr/>
              <p:nvPr/>
            </p:nvSpPr>
            <p:spPr>
              <a:xfrm>
                <a:off x="11570061" y="4112772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DB9A4AC-5689-A733-30A4-145404418CB4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EE72D81-5572-A3B1-66F6-5EE0675605EE}"/>
                  </a:ext>
                </a:extLst>
              </p:cNvPr>
              <p:cNvSpPr/>
              <p:nvPr/>
            </p:nvSpPr>
            <p:spPr>
              <a:xfrm>
                <a:off x="10211912" y="2689864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202B546-3742-167F-CFDF-1BD267F8299D}"/>
                  </a:ext>
                </a:extLst>
              </p:cNvPr>
              <p:cNvSpPr/>
              <p:nvPr/>
            </p:nvSpPr>
            <p:spPr>
              <a:xfrm>
                <a:off x="13516336" y="4068489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EC4C2584-FF12-4F92-3CEE-0EAF7FA7C696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A87E4D34-25FF-F479-2C75-1AB8FE848E65}"/>
                  </a:ext>
                </a:extLst>
              </p:cNvPr>
              <p:cNvSpPr/>
              <p:nvPr/>
            </p:nvSpPr>
            <p:spPr>
              <a:xfrm>
                <a:off x="3554924" y="4099768"/>
                <a:ext cx="138618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55DBE3D5-0BB7-A41C-48E7-3A1F73B59144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show an Iranian city?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066DAAD0-86E6-4FA8-5585-0B0C7A70C9C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Local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A260C976-5D96-1FDD-F62E-D08B6FB08BCD}"/>
                  </a:ext>
                </a:extLst>
              </p:cNvPr>
              <p:cNvSpPr/>
              <p:nvPr/>
            </p:nvSpPr>
            <p:spPr bwMode="auto">
              <a:xfrm>
                <a:off x="10686432" y="2357708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Do recent tweets clearly place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the user OUTSIDE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400" dirty="0"/>
                  <a:t>Iran?</a:t>
                </a:r>
                <a:endParaRPr lang="en-US" sz="14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F38A4338-6BE2-7D49-CBD4-B7F279D79353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Does the location field 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show a city outside Iran?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D7813615-0620-2F64-51B3-1E2C3BA6BA55}"/>
                  </a:ext>
                </a:extLst>
              </p:cNvPr>
              <p:cNvSpPr/>
              <p:nvPr/>
            </p:nvSpPr>
            <p:spPr bwMode="auto">
              <a:xfrm>
                <a:off x="7936366" y="2364856"/>
                <a:ext cx="2258196" cy="1129012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 recent tweets clearly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 place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the user IN Iran?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32C4C7E6-2350-4571-3816-40E213CF9D6D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060732" y="3493868"/>
                <a:ext cx="4732" cy="5943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B2982A33-8F64-DCC7-AD2B-2A30DA2B6B4B}"/>
                  </a:ext>
                </a:extLst>
              </p:cNvPr>
              <p:cNvSpPr/>
              <p:nvPr/>
            </p:nvSpPr>
            <p:spPr bwMode="auto">
              <a:xfrm>
                <a:off x="11545373" y="4391038"/>
                <a:ext cx="1074508" cy="371458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2EE2657-3B4B-D27F-AD17-31D170DDAF25}"/>
                  </a:ext>
                </a:extLst>
              </p:cNvPr>
              <p:cNvCxnSpPr>
                <a:cxnSpLocks/>
                <a:stCxn id="157" idx="1"/>
                <a:endCxn id="170" idx="0"/>
              </p:cNvCxnSpPr>
              <p:nvPr/>
            </p:nvCxnSpPr>
            <p:spPr>
              <a:xfrm>
                <a:off x="12080287" y="3490935"/>
                <a:ext cx="2340" cy="900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EDB959A5-0387-4416-27C5-DB8BC05887FB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1122096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Does the bio/display name suggest diaspora?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8CF29E9-B8A4-CE08-26BE-0F604F9F878C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87750" y="3493035"/>
                <a:ext cx="11504" cy="853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76983A21-FAF5-1542-16B2-B9B7B5BBA108}"/>
                  </a:ext>
                </a:extLst>
              </p:cNvPr>
              <p:cNvSpPr/>
              <p:nvPr/>
            </p:nvSpPr>
            <p:spPr bwMode="auto">
              <a:xfrm>
                <a:off x="13314654" y="4363048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20ECD25D-80AD-F20B-DA72-BF0033E2B198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13474142" y="3031226"/>
                <a:ext cx="444127" cy="13318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DC6DD651-4632-F9DB-2CA5-9A727DD11B08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3E32508C-ACE4-45F2-4D3E-F784B87A3550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8EC2BDFE-237D-15B1-5176-C686FC3FF9FC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54D99C23-9B2B-F925-6304-FC833E0BDD07}"/>
                  </a:ext>
                </a:extLst>
              </p:cNvPr>
              <p:cNvCxnSpPr/>
              <p:nvPr/>
            </p:nvCxnSpPr>
            <p:spPr>
              <a:xfrm flipV="1">
                <a:off x="7447401" y="3035868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C1EAE2AB-592B-38F6-944B-B03D0D69DC08}"/>
                  </a:ext>
                </a:extLst>
              </p:cNvPr>
              <p:cNvCxnSpPr/>
              <p:nvPr/>
            </p:nvCxnSpPr>
            <p:spPr>
              <a:xfrm flipV="1">
                <a:off x="10194561" y="3031225"/>
                <a:ext cx="491871" cy="4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71FB9C61-322F-5B22-5922-80677EC1A144}"/>
                  </a:ext>
                </a:extLst>
              </p:cNvPr>
              <p:cNvSpPr/>
              <p:nvPr/>
            </p:nvSpPr>
            <p:spPr bwMode="auto">
              <a:xfrm>
                <a:off x="8064996" y="4088265"/>
                <a:ext cx="1991472" cy="274783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local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FC097237-53F8-3CB4-E88C-D83DF5003478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528726" cy="311018"/>
              </a:xfrm>
              <a:prstGeom prst="snip1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ADE18061-AF42-DA98-A0CF-756F48067788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613386" y="1213088"/>
                <a:ext cx="608926" cy="172259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FA3CED2D-BD98-1601-AE66-6B7D0BBDCB88}"/>
                  </a:ext>
                </a:extLst>
              </p:cNvPr>
              <p:cNvSpPr/>
              <p:nvPr/>
            </p:nvSpPr>
            <p:spPr bwMode="auto">
              <a:xfrm>
                <a:off x="5184676" y="4346658"/>
                <a:ext cx="1006147" cy="274783"/>
              </a:xfrm>
              <a:prstGeom prst="roundRect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diaspora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D3D713B-8414-0343-4A59-110CE2045634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2C5FA3F-F0DF-0935-F1CE-278E7DAC392F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611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8125-EDBC-FD32-99A6-8DDD0CB1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2425F3-2AC1-365D-D674-6D5436F1D9BA}"/>
              </a:ext>
            </a:extLst>
          </p:cNvPr>
          <p:cNvGrpSpPr/>
          <p:nvPr/>
        </p:nvGrpSpPr>
        <p:grpSpPr>
          <a:xfrm>
            <a:off x="288133" y="180057"/>
            <a:ext cx="14074052" cy="4296978"/>
            <a:chOff x="288133" y="180057"/>
            <a:chExt cx="14074052" cy="4296978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B948BE1-8DA1-727A-8664-1ADE771658CE}"/>
                </a:ext>
              </a:extLst>
            </p:cNvPr>
            <p:cNvGrpSpPr/>
            <p:nvPr/>
          </p:nvGrpSpPr>
          <p:grpSpPr>
            <a:xfrm>
              <a:off x="288133" y="180057"/>
              <a:ext cx="14074052" cy="4296978"/>
              <a:chOff x="792189" y="94601"/>
              <a:chExt cx="14074052" cy="4296978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00AC839-293F-E772-AA69-27F33735A027}"/>
                  </a:ext>
                </a:extLst>
              </p:cNvPr>
              <p:cNvSpPr/>
              <p:nvPr/>
            </p:nvSpPr>
            <p:spPr>
              <a:xfrm>
                <a:off x="1716878" y="4088265"/>
                <a:ext cx="138619" cy="3033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marL="0" algn="ctr" defTabSz="457200" rtl="0" eaLnBrk="1" latinLnBrk="0" hangingPunct="1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endPara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AC69167A-20E0-15A6-D151-3FD063AEE9B5}"/>
                  </a:ext>
                </a:extLst>
              </p:cNvPr>
              <p:cNvSpPr/>
              <p:nvPr/>
            </p:nvSpPr>
            <p:spPr>
              <a:xfrm>
                <a:off x="5233529" y="2952155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4AA0852-353C-4EDB-23D4-0D54D7719CFC}"/>
                  </a:ext>
                </a:extLst>
              </p:cNvPr>
              <p:cNvSpPr/>
              <p:nvPr/>
            </p:nvSpPr>
            <p:spPr>
              <a:xfrm>
                <a:off x="8900738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3D23C5F-B2D4-7533-2D30-8AFBA08743DA}"/>
                  </a:ext>
                </a:extLst>
              </p:cNvPr>
              <p:cNvSpPr/>
              <p:nvPr/>
            </p:nvSpPr>
            <p:spPr>
              <a:xfrm>
                <a:off x="7458288" y="2669633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08CAF5F-E500-67DF-A9BF-1A51D6009AD7}"/>
                  </a:ext>
                </a:extLst>
              </p:cNvPr>
              <p:cNvSpPr/>
              <p:nvPr/>
            </p:nvSpPr>
            <p:spPr>
              <a:xfrm>
                <a:off x="11955696" y="2969741"/>
                <a:ext cx="44447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ele-GroteskFet" pitchFamily="2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dirty="0">
                    <a:ln w="0"/>
                  </a:rPr>
                  <a:t>Yes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8F3E48E7-029B-D60A-789D-B1CBCB87D5B6}"/>
                  </a:ext>
                </a:extLst>
              </p:cNvPr>
              <p:cNvSpPr/>
              <p:nvPr/>
            </p:nvSpPr>
            <p:spPr>
              <a:xfrm>
                <a:off x="5736198" y="2052265"/>
                <a:ext cx="384582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EEFF7FA-5EE3-FE62-ABDC-FA51228D095E}"/>
                  </a:ext>
                </a:extLst>
              </p:cNvPr>
              <p:cNvSpPr/>
              <p:nvPr/>
            </p:nvSpPr>
            <p:spPr>
              <a:xfrm>
                <a:off x="13720663" y="2952155"/>
                <a:ext cx="384583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No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052DA62-E7CF-A7B2-8518-AAAD361D677A}"/>
                  </a:ext>
                </a:extLst>
              </p:cNvPr>
              <p:cNvSpPr/>
              <p:nvPr/>
            </p:nvSpPr>
            <p:spPr>
              <a:xfrm>
                <a:off x="1499845" y="2052265"/>
                <a:ext cx="444471" cy="300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68607" tIns="34303" rIns="68607" bIns="34303">
                <a:spAutoFit/>
              </a:bodyPr>
              <a:lstStyle/>
              <a:p>
                <a:pPr algn="ctr" defTabSz="457200">
                  <a:lnSpc>
                    <a:spcPts val="18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itchFamily="2" charset="2"/>
                </a:pPr>
                <a:r>
                  <a:rPr lang="en-US" sz="1800" dirty="0">
                    <a:ln w="0"/>
                    <a:solidFill>
                      <a:schemeClr val="tx1"/>
                    </a:solidFill>
                    <a:latin typeface="Tele-GroteskFet" pitchFamily="2" charset="0"/>
                  </a:rPr>
                  <a:t>Yes</a:t>
                </a:r>
              </a:p>
            </p:txBody>
          </p:sp>
          <p:sp>
            <p:nvSpPr>
              <p:cNvPr id="151" name="Snip Single Corner Rectangle 150">
                <a:extLst>
                  <a:ext uri="{FF2B5EF4-FFF2-40B4-BE49-F238E27FC236}">
                    <a16:creationId xmlns:a16="http://schemas.microsoft.com/office/drawing/2014/main" id="{D95DE73C-9497-444D-A61C-6F537719190F}"/>
                  </a:ext>
                </a:extLst>
              </p:cNvPr>
              <p:cNvSpPr/>
              <p:nvPr/>
            </p:nvSpPr>
            <p:spPr bwMode="auto">
              <a:xfrm>
                <a:off x="4090220" y="94601"/>
                <a:ext cx="6135016" cy="36935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suspended/empty/private?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A0482EF3-1914-D71C-6598-FC21367DE314}"/>
                  </a:ext>
                </a:extLst>
              </p:cNvPr>
              <p:cNvSpPr/>
              <p:nvPr/>
            </p:nvSpPr>
            <p:spPr bwMode="auto">
              <a:xfrm>
                <a:off x="10946875" y="903075"/>
                <a:ext cx="1494677" cy="36935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Snip Single Corner Rectangle 156">
                <a:extLst>
                  <a:ext uri="{FF2B5EF4-FFF2-40B4-BE49-F238E27FC236}">
                    <a16:creationId xmlns:a16="http://schemas.microsoft.com/office/drawing/2014/main" id="{6EA67995-B2E6-061A-EBA0-3395DF4F1504}"/>
                  </a:ext>
                </a:extLst>
              </p:cNvPr>
              <p:cNvSpPr/>
              <p:nvPr/>
            </p:nvSpPr>
            <p:spPr bwMode="auto">
              <a:xfrm>
                <a:off x="12078531" y="1791709"/>
                <a:ext cx="2787710" cy="1133227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there clear evidence this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 is one individual?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Snip Single Corner Rectangle 160">
                <a:extLst>
                  <a:ext uri="{FF2B5EF4-FFF2-40B4-BE49-F238E27FC236}">
                    <a16:creationId xmlns:a16="http://schemas.microsoft.com/office/drawing/2014/main" id="{3744141B-2C2D-4294-7F66-84A0981E29E5}"/>
                  </a:ext>
                </a:extLst>
              </p:cNvPr>
              <p:cNvSpPr/>
              <p:nvPr/>
            </p:nvSpPr>
            <p:spPr bwMode="auto">
              <a:xfrm>
                <a:off x="1943068" y="875183"/>
                <a:ext cx="3672154" cy="894738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Does the display name/username clearly </a:t>
                </a:r>
              </a:p>
              <a:p>
                <a:pPr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dirty="0"/>
                  <a:t>indicate an organization?</a:t>
                </a:r>
                <a:endParaRPr lang="en-US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Snip Single Corner Rectangle 167">
                <a:extLst>
                  <a:ext uri="{FF2B5EF4-FFF2-40B4-BE49-F238E27FC236}">
                    <a16:creationId xmlns:a16="http://schemas.microsoft.com/office/drawing/2014/main" id="{FF9627CB-C3B0-0659-45AA-5636018F2C46}"/>
                  </a:ext>
                </a:extLst>
              </p:cNvPr>
              <p:cNvSpPr/>
              <p:nvPr/>
            </p:nvSpPr>
            <p:spPr bwMode="auto">
              <a:xfrm>
                <a:off x="7939262" y="1469821"/>
                <a:ext cx="3339135" cy="1455115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Is the profile picture a logo /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brand mark / non-human image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endParaRPr lang="en-US" sz="1800" kern="600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AND Are tweets written in 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dirty="0"/>
                  <a:t>plural/institutional voice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7DD5D219-1125-8E7E-B168-9F054C2F55EB}"/>
                  </a:ext>
                </a:extLst>
              </p:cNvPr>
              <p:cNvCxnSpPr>
                <a:cxnSpLocks/>
                <a:stCxn id="168" idx="1"/>
                <a:endCxn id="197" idx="0"/>
              </p:cNvCxnSpPr>
              <p:nvPr/>
            </p:nvCxnSpPr>
            <p:spPr>
              <a:xfrm flipH="1">
                <a:off x="9608829" y="2924936"/>
                <a:ext cx="1" cy="4412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AA0CE7DD-5EE8-B814-4F0D-5C853F32D642}"/>
                  </a:ext>
                </a:extLst>
              </p:cNvPr>
              <p:cNvSpPr/>
              <p:nvPr/>
            </p:nvSpPr>
            <p:spPr bwMode="auto">
              <a:xfrm>
                <a:off x="11980182" y="3310983"/>
                <a:ext cx="1074508" cy="37145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Person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133A5B7-B016-4306-920C-B9C42BCD9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1552" y="2924936"/>
                <a:ext cx="0" cy="3981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2" name="Snip Single Corner Rectangle 171">
                <a:extLst>
                  <a:ext uri="{FF2B5EF4-FFF2-40B4-BE49-F238E27FC236}">
                    <a16:creationId xmlns:a16="http://schemas.microsoft.com/office/drawing/2014/main" id="{D827EB4E-71B6-3C7A-FAC9-04E90A8C6C86}"/>
                  </a:ext>
                </a:extLst>
              </p:cNvPr>
              <p:cNvSpPr/>
              <p:nvPr/>
            </p:nvSpPr>
            <p:spPr bwMode="auto">
              <a:xfrm>
                <a:off x="3951106" y="2370939"/>
                <a:ext cx="3496295" cy="506451"/>
              </a:xfrm>
              <a:prstGeom prst="snip1Rect">
                <a:avLst/>
              </a:prstGeom>
              <a:solidFill>
                <a:schemeClr val="accent1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/>
                  <a:t>Does the bio describe an institution?</a:t>
                </a:r>
                <a:endParaRPr lang="en-US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E557E843-E1F2-53C1-CEDB-6745EF219252}"/>
                  </a:ext>
                </a:extLst>
              </p:cNvPr>
              <p:cNvCxnSpPr>
                <a:cxnSpLocks/>
                <a:stCxn id="172" idx="1"/>
                <a:endCxn id="175" idx="0"/>
              </p:cNvCxnSpPr>
              <p:nvPr/>
            </p:nvCxnSpPr>
            <p:spPr>
              <a:xfrm flipH="1">
                <a:off x="5695351" y="2877390"/>
                <a:ext cx="3903" cy="4512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F3D29B09-FB53-71FB-CB4A-3949E8D3E093}"/>
                  </a:ext>
                </a:extLst>
              </p:cNvPr>
              <p:cNvSpPr/>
              <p:nvPr/>
            </p:nvSpPr>
            <p:spPr bwMode="auto">
              <a:xfrm>
                <a:off x="13370656" y="3336790"/>
                <a:ext cx="1207230" cy="399448"/>
              </a:xfrm>
              <a:prstGeom prst="roundRect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Unknown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Straight Arrow Connector 80">
                <a:extLst>
                  <a:ext uri="{FF2B5EF4-FFF2-40B4-BE49-F238E27FC236}">
                    <a16:creationId xmlns:a16="http://schemas.microsoft.com/office/drawing/2014/main" id="{514E5944-39D8-61C6-68BA-242B84DC30ED}"/>
                  </a:ext>
                </a:extLst>
              </p:cNvPr>
              <p:cNvCxnSpPr>
                <a:cxnSpLocks/>
                <a:stCxn id="168" idx="0"/>
                <a:endCxn id="157" idx="2"/>
              </p:cNvCxnSpPr>
              <p:nvPr/>
            </p:nvCxnSpPr>
            <p:spPr>
              <a:xfrm>
                <a:off x="11278397" y="2197379"/>
                <a:ext cx="800134" cy="160944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A70A555F-8D48-E3F4-BC0E-8032A444E1D4}"/>
                  </a:ext>
                </a:extLst>
              </p:cNvPr>
              <p:cNvCxnSpPr>
                <a:cxnSpLocks/>
                <a:stCxn id="161" idx="1"/>
                <a:endCxn id="172" idx="3"/>
              </p:cNvCxnSpPr>
              <p:nvPr/>
            </p:nvCxnSpPr>
            <p:spPr>
              <a:xfrm rot="16200000" flipH="1">
                <a:off x="4438690" y="1110375"/>
                <a:ext cx="601018" cy="1920109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9" name="Straight Arrow Connector 60">
                <a:extLst>
                  <a:ext uri="{FF2B5EF4-FFF2-40B4-BE49-F238E27FC236}">
                    <a16:creationId xmlns:a16="http://schemas.microsoft.com/office/drawing/2014/main" id="{90D5686F-AFED-BDD5-E0BD-DC2879B9DFFD}"/>
                  </a:ext>
                </a:extLst>
              </p:cNvPr>
              <p:cNvCxnSpPr>
                <a:cxnSpLocks/>
                <a:stCxn id="151" idx="1"/>
                <a:endCxn id="153" idx="0"/>
              </p:cNvCxnSpPr>
              <p:nvPr/>
            </p:nvCxnSpPr>
            <p:spPr>
              <a:xfrm rot="16200000" flipH="1">
                <a:off x="9206413" y="-1584726"/>
                <a:ext cx="439116" cy="4536486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0" name="Straight Arrow Connector 60">
                <a:extLst>
                  <a:ext uri="{FF2B5EF4-FFF2-40B4-BE49-F238E27FC236}">
                    <a16:creationId xmlns:a16="http://schemas.microsoft.com/office/drawing/2014/main" id="{A3F4F805-3F25-D8A5-AE72-0AC1030FD183}"/>
                  </a:ext>
                </a:extLst>
              </p:cNvPr>
              <p:cNvCxnSpPr>
                <a:cxnSpLocks/>
                <a:stCxn id="151" idx="1"/>
                <a:endCxn id="161" idx="3"/>
              </p:cNvCxnSpPr>
              <p:nvPr/>
            </p:nvCxnSpPr>
            <p:spPr>
              <a:xfrm rot="5400000">
                <a:off x="5262825" y="-1019720"/>
                <a:ext cx="411224" cy="3378583"/>
              </a:xfrm>
              <a:prstGeom prst="bentConnector3">
                <a:avLst>
                  <a:gd name="adj1" fmla="val 50000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2A363467-C462-E443-1989-DC690F12F854}"/>
                  </a:ext>
                </a:extLst>
              </p:cNvPr>
              <p:cNvCxnSpPr/>
              <p:nvPr/>
            </p:nvCxnSpPr>
            <p:spPr>
              <a:xfrm flipV="1">
                <a:off x="7458288" y="2653185"/>
                <a:ext cx="488965" cy="1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2A2E945A-D920-47BA-AA23-C8001D3BC01A}"/>
                  </a:ext>
                </a:extLst>
              </p:cNvPr>
              <p:cNvSpPr/>
              <p:nvPr/>
            </p:nvSpPr>
            <p:spPr bwMode="auto">
              <a:xfrm>
                <a:off x="8613093" y="3366234"/>
                <a:ext cx="1991472" cy="378199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6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600" kern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Snip Single Corner Rectangle 198">
                <a:extLst>
                  <a:ext uri="{FF2B5EF4-FFF2-40B4-BE49-F238E27FC236}">
                    <a16:creationId xmlns:a16="http://schemas.microsoft.com/office/drawing/2014/main" id="{4524E4BC-CA4B-87E8-33C5-7B3755C29586}"/>
                  </a:ext>
                </a:extLst>
              </p:cNvPr>
              <p:cNvSpPr/>
              <p:nvPr/>
            </p:nvSpPr>
            <p:spPr bwMode="auto">
              <a:xfrm>
                <a:off x="792189" y="2378847"/>
                <a:ext cx="2448271" cy="498544"/>
              </a:xfrm>
              <a:prstGeom prst="snip1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</a:p>
            </p:txBody>
          </p: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48185487-4B18-FC39-66AA-44330AC3D29C}"/>
                  </a:ext>
                </a:extLst>
              </p:cNvPr>
              <p:cNvCxnSpPr>
                <a:cxnSpLocks/>
                <a:stCxn id="161" idx="1"/>
                <a:endCxn id="199" idx="3"/>
              </p:cNvCxnSpPr>
              <p:nvPr/>
            </p:nvCxnSpPr>
            <p:spPr>
              <a:xfrm rot="5400000">
                <a:off x="2593272" y="1192974"/>
                <a:ext cx="608926" cy="176282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6B2E3DEA-648E-E238-923F-BA72941F3011}"/>
                  </a:ext>
                </a:extLst>
              </p:cNvPr>
              <p:cNvSpPr/>
              <p:nvPr/>
            </p:nvSpPr>
            <p:spPr bwMode="auto">
              <a:xfrm>
                <a:off x="4921543" y="3328595"/>
                <a:ext cx="1547616" cy="415838"/>
              </a:xfrm>
              <a:prstGeom prst="roundRect">
                <a:avLst/>
              </a:prstGeom>
              <a:solidFill>
                <a:schemeClr val="accent3"/>
              </a:solidFill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>
                <a:defPPr>
                  <a:defRPr lang="de-DE"/>
                </a:defPPr>
                <a:lvl1pPr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fontAlgn="base">
                  <a:lnSpc>
                    <a:spcPts val="18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itchFamily="2" charset="2"/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E20074"/>
                  </a:buClr>
                </a:pPr>
                <a:r>
                  <a:rPr lang="en-US" sz="1800" kern="600" dirty="0">
                    <a:solidFill>
                      <a:schemeClr val="tx1"/>
                    </a:solidFill>
                  </a:rPr>
                  <a:t>organization</a:t>
                </a:r>
                <a:endParaRPr lang="he-IL" sz="1800" kern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19695BC-29B3-5588-356E-0B91BFAD4482}"/>
                </a:ext>
              </a:extLst>
            </p:cNvPr>
            <p:cNvSpPr/>
            <p:nvPr/>
          </p:nvSpPr>
          <p:spPr>
            <a:xfrm>
              <a:off x="7044461" y="816053"/>
              <a:ext cx="444471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Yes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97E11C3-D617-6F80-D90A-4A3D71E623C6}"/>
                </a:ext>
              </a:extLst>
            </p:cNvPr>
            <p:cNvSpPr/>
            <p:nvPr/>
          </p:nvSpPr>
          <p:spPr>
            <a:xfrm>
              <a:off x="5760740" y="816053"/>
              <a:ext cx="384582" cy="300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68607" tIns="34303" rIns="68607" bIns="34303">
              <a:spAutoFit/>
            </a:bodyPr>
            <a:lstStyle/>
            <a:p>
              <a:pPr algn="ctr" defTabSz="457200">
                <a:lnSpc>
                  <a:spcPts val="18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</a:pPr>
              <a:r>
                <a:rPr lang="en-US" sz="1800" dirty="0">
                  <a:ln w="0"/>
                  <a:solidFill>
                    <a:schemeClr val="tx1"/>
                  </a:solidFill>
                  <a:latin typeface="Tele-GroteskFet" pitchFamily="2" charset="0"/>
                </a:rPr>
                <a:t>No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D818DC-DDB1-0CAE-B74C-4ADB048BDBC7}"/>
              </a:ext>
            </a:extLst>
          </p:cNvPr>
          <p:cNvCxnSpPr>
            <a:cxnSpLocks/>
          </p:cNvCxnSpPr>
          <p:nvPr/>
        </p:nvCxnSpPr>
        <p:spPr>
          <a:xfrm>
            <a:off x="13609612" y="3006178"/>
            <a:ext cx="0" cy="398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178E51-C954-7BE6-4775-E60E31DD1F7E}"/>
              </a:ext>
            </a:extLst>
          </p:cNvPr>
          <p:cNvSpPr/>
          <p:nvPr/>
        </p:nvSpPr>
        <p:spPr>
          <a:xfrm>
            <a:off x="10810526" y="1969307"/>
            <a:ext cx="641114" cy="3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07" tIns="34303" rIns="68607" bIns="34303">
            <a:spAutoFit/>
          </a:bodyPr>
          <a:lstStyle/>
          <a:p>
            <a:pPr algn="ctr" defTabSz="457200" rtl="0"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</a:pPr>
            <a:r>
              <a:rPr lang="en-US" sz="1800" dirty="0">
                <a:ln w="0"/>
                <a:solidFill>
                  <a:schemeClr val="tx1"/>
                </a:solidFill>
                <a:latin typeface="Tele-GroteskFet" pitchFamily="2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9174868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210</Words>
  <Application>Microsoft Macintosh PowerPoint</Application>
  <PresentationFormat>Custom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Tele-GroteskFet</vt:lpstr>
      <vt:lpstr>Wingdings</vt:lpstr>
      <vt:lpstr>ערכת נושא של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Rami</dc:creator>
  <cp:lastModifiedBy>nadav magen</cp:lastModifiedBy>
  <cp:revision>33</cp:revision>
  <dcterms:created xsi:type="dcterms:W3CDTF">2017-01-13T15:06:49Z</dcterms:created>
  <dcterms:modified xsi:type="dcterms:W3CDTF">2026-05-14T07:55:17Z</dcterms:modified>
</cp:coreProperties>
</file>