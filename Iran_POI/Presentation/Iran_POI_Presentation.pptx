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8" r:id="rId10"/>
    <p:sldId id="262" r:id="rId11"/>
    <p:sldId id="263" r:id="rId12"/>
    <p:sldId id="264" r:id="rId13"/>
    <p:sldId id="265" r:id="rId14"/>
    <p:sldId id="266" r:id="rId15"/>
    <p:sldId id="267" r:id="rId16"/>
    <p:sldId id="279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al Bold" panose="020B0704020202020204"/>
      <p:regular r:id="rId27"/>
      <p:bold r:id="rId28"/>
    </p:embeddedFont>
    <p:embeddedFont>
      <p:font typeface="Arial Bold Italics" panose="020B0704020202090204" pitchFamily="34" charset="0"/>
      <p:regular r:id="rId29"/>
      <p:bold r:id="rId30"/>
      <p:italic r:id="rId31"/>
      <p:boldItalic r:id="rId32"/>
    </p:embeddedFont>
    <p:embeddedFont>
      <p:font typeface="Suez One" pitchFamily="2" charset="-79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B39ADEE-4943-4E77-AE3C-6171B3647D76}" type="datetimeFigureOut">
              <a:t>18/07/2026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834711B-F18E-4F18-B433-3D8CC085E1D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0922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פרויקט גמר במבוא ללמידת מכונה. המטרה: לזהות אוטומטית משתמשי X השייכים לאוכלוסייה האיראנית, במקום בדיקה ידנית של כל חשבון.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כל שלב מתבסס על קודמו. השלבים 5 עד 7 חוזרים שבע פעמים, זו הלולאה של הלמידה האקטיבית.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הדאטה כולו סופק מראש. התיוג הכפול בוצע באיטרציה 1: כל משתמש נבדק בשני מתייגים, המחלוקות הוכרעו בדיון, והקונצנזוס נשמר בקובץ ייעודי. שלוש המשימות עוברות את יעדי הקאפא בפער נוח.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כל ניסוי מתועד בשורה בקובץ CSV אחיד עם 18 עמודות חובה. בחירת המודל המנצח בכל איטרציה נעשתה לפי ה-AUC הגבוה ביותר מבין ניסויי K-Fold+balanced בלבד; LOOCV תועד כנדרש אך הוחרג מהבחירה כי הוא מנפח AUC לכיוון 1.0.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Percent Agreement הוא אחוז ההסכמה הגולמי; Cohen's Kappa מתקן הסכמה מקרית ולכן הוא המדד המשמעותי. הקאפא של 0.88 במשימה המרכזית גבוהה מהיעד 0.75.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זו השאלה שתישאל: למה הגרף יורד? התשובה: הלמידה האקטיבית בוחרת בכוונה את המשתמשים הקשים ביותר, אז הביצועים נמדדים על אוכלוסייה שנעשית קשה יותר. השקף הבא מוכיח את זה.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העצירה לא שרירותית: היא נשענת על שלושה אותות בלתי תלויים. השלישי הוא החזק, כשגם מתייג אנושי מסמן unknown ב-40% מהאזור הלא-ודאי, תיוג נוסף שם לא ישפר את המודל.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זו התובנה המרכזית של הפרויקט. הזרקנו את פיצ'רי ההעשרה לכל אחת מהאיטרציות בדיעבד, וראינו שהירידה בגרף הקודם נעלמת. כלומר מקור הירידה היה עוני-פיצ'רים, לא נסיגה של המודל.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ה-AUC של ה-LLM חושב משיעור ההצבעה למחלקת target על פני 10 ההרצות, כ-P(target). זה מה שחושף את הפער: דירוג מצוין, הכרעה גרועה. n=19 קטן, אנחנו אומרים את זה מראש.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19" name="Picture 18" descr="title-integrated-haz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058"/>
            <a:ext cx="18288000" cy="10287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09600" y="2380860"/>
            <a:ext cx="12281578" cy="425768"/>
            <a:chOff x="0" y="-19050"/>
            <a:chExt cx="16375438" cy="567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375438" cy="548640"/>
            </a:xfrm>
            <a:custGeom>
              <a:avLst/>
              <a:gdLst/>
              <a:ahLst/>
              <a:cxnLst/>
              <a:rect l="l" t="t" r="r" b="b"/>
              <a:pathLst>
                <a:path w="16375438" h="548640">
                  <a:moveTo>
                    <a:pt x="0" y="0"/>
                  </a:moveTo>
                  <a:lnTo>
                    <a:pt x="16375438" y="0"/>
                  </a:lnTo>
                  <a:lnTo>
                    <a:pt x="1637543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22257" r="-32786" b="-7222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6375438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en-US" sz="1950" spc="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SCE</a:t>
              </a:r>
              <a:r>
                <a:rPr lang="he-IL" sz="1950" spc="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  הנדסת תוכנה   סמסטר ב׳ </a:t>
              </a:r>
              <a:r>
                <a:rPr lang="en-US" sz="1950" spc="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372600" y="2983934"/>
            <a:ext cx="27271673" cy="2394822"/>
            <a:chOff x="-4336284" y="-9525"/>
            <a:chExt cx="36362231" cy="3193097"/>
          </a:xfrm>
        </p:grpSpPr>
        <p:sp>
          <p:nvSpPr>
            <p:cNvPr id="11" name="Freeform 11"/>
            <p:cNvSpPr/>
            <p:nvPr/>
          </p:nvSpPr>
          <p:spPr>
            <a:xfrm>
              <a:off x="-4336284" y="0"/>
              <a:ext cx="32025946" cy="3183572"/>
            </a:xfrm>
            <a:custGeom>
              <a:avLst/>
              <a:gdLst/>
              <a:ahLst/>
              <a:cxnLst/>
              <a:rect l="l" t="t" r="r" b="b"/>
              <a:pathLst>
                <a:path w="32025946" h="3183571">
                  <a:moveTo>
                    <a:pt x="0" y="0"/>
                  </a:moveTo>
                  <a:lnTo>
                    <a:pt x="32025946" y="0"/>
                  </a:lnTo>
                  <a:lnTo>
                    <a:pt x="32025946" y="3183571"/>
                  </a:lnTo>
                  <a:lnTo>
                    <a:pt x="0" y="31835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7130" r="32103" b="-79042"/>
              </a:stretch>
            </a:blipFill>
            <a:ln/>
          </p:spPr>
          <p:txBody>
            <a:bodyPr/>
            <a:lstStyle/>
            <a:p>
              <a:pPr marL="0" algn="r" defTabSz="914400" rtl="1" eaLnBrk="1" latinLnBrk="0" hangingPunct="1"/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32025947" cy="31930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8171"/>
                </a:lnSpc>
              </a:pPr>
              <a:r>
                <a:rPr lang="he-IL" sz="65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                        זיהוי </a:t>
              </a:r>
              <a:r>
                <a:rPr lang="he-IL" sz="6599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אוכלוסיית  האיראנית ב - </a:t>
              </a:r>
              <a:r>
                <a:rPr lang="en-US" sz="6599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</a:rPr>
                <a:t>X</a:t>
              </a:r>
            </a:p>
            <a:p>
              <a:pPr algn="r" rtl="1">
                <a:lnSpc>
                  <a:spcPts val="8171"/>
                </a:lnSpc>
              </a:pPr>
              <a:endParaRPr lang="en-US" sz="6599" dirty="0">
                <a:solidFill>
                  <a:srgbClr val="000000"/>
                </a:solidFill>
                <a:latin typeface="Suez One"/>
                <a:ea typeface="Suez One"/>
                <a:cs typeface="Suez One"/>
                <a:sym typeface="Suez One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843562" y="5371612"/>
            <a:ext cx="16308324" cy="555784"/>
            <a:chOff x="0" y="-9525"/>
            <a:chExt cx="21744432" cy="7410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44432" cy="731520"/>
            </a:xfrm>
            <a:custGeom>
              <a:avLst/>
              <a:gdLst/>
              <a:ahLst/>
              <a:cxnLst/>
              <a:rect l="l" t="t" r="r" b="b"/>
              <a:pathLst>
                <a:path w="21744432" h="731520">
                  <a:moveTo>
                    <a:pt x="0" y="0"/>
                  </a:moveTo>
                  <a:lnTo>
                    <a:pt x="21744432" y="0"/>
                  </a:lnTo>
                  <a:lnTo>
                    <a:pt x="217444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29192" b="-52919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1744432" cy="74104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למידה מונחית ולמידה אקטיבית, פרויקט גמר במבוא ללמידת מכונה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7552" y="6402996"/>
            <a:ext cx="12477211" cy="562928"/>
            <a:chOff x="0" y="-19050"/>
            <a:chExt cx="16636281" cy="7505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636281" cy="731520"/>
            </a:xfrm>
            <a:custGeom>
              <a:avLst/>
              <a:gdLst/>
              <a:ahLst/>
              <a:cxnLst/>
              <a:rect l="l" t="t" r="r" b="b"/>
              <a:pathLst>
                <a:path w="16636281" h="731520">
                  <a:moveTo>
                    <a:pt x="0" y="0"/>
                  </a:moveTo>
                  <a:lnTo>
                    <a:pt x="16636281" y="0"/>
                  </a:lnTo>
                  <a:lnTo>
                    <a:pt x="1663628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29192" r="-30704" b="-52919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6636280" cy="75057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700"/>
                </a:lnSpc>
              </a:pPr>
              <a:r>
                <a:rPr lang="he-IL" sz="225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נדב אילוז  - 211887138  |   נדב מגן - 212350615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67" name="Picture 66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86" y="-68805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744432" cy="4579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endParaRPr lang="he-IL" sz="1800" b="1" spc="149" dirty="0">
                <a:solidFill>
                  <a:srgbClr val="C8102E"/>
                </a:solidFill>
                <a:latin typeface="Arial Bold"/>
                <a:ea typeface="Arial Bold"/>
                <a:cs typeface="Arial Bold"/>
                <a:sym typeface="Arial Bold"/>
                <a:rtl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55523"/>
            <a:chOff x="0" y="0"/>
            <a:chExt cx="21744432" cy="10073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1007364"/>
            </a:xfrm>
            <a:custGeom>
              <a:avLst/>
              <a:gdLst/>
              <a:ahLst/>
              <a:cxnLst/>
              <a:rect l="l" t="t" r="r" b="b"/>
              <a:pathLst>
                <a:path w="21744432" h="1007364">
                  <a:moveTo>
                    <a:pt x="0" y="0"/>
                  </a:moveTo>
                  <a:lnTo>
                    <a:pt x="21744432" y="0"/>
                  </a:lnTo>
                  <a:lnTo>
                    <a:pt x="21744432" y="1007364"/>
                  </a:lnTo>
                  <a:lnTo>
                    <a:pt x="0" y="10073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75208" b="-365979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100736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799"/>
                </a:lnSpc>
              </a:pPr>
              <a:r>
                <a:rPr lang="he-IL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לזהות אוטומטית מי שייך לאוכלוסייה האיראנית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Iran_POI   </a:t>
              </a:r>
              <a:r>
                <a:rPr lang="he-IL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מטרה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517636" y="1993106"/>
            <a:ext cx="8778240" cy="1161574"/>
            <a:chOff x="0" y="-85725"/>
            <a:chExt cx="11704320" cy="15487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04320" cy="1463040"/>
            </a:xfrm>
            <a:custGeom>
              <a:avLst/>
              <a:gdLst/>
              <a:ahLst/>
              <a:cxnLst/>
              <a:rect l="l" t="t" r="r" b="b"/>
              <a:pathLst>
                <a:path w="11704320" h="1463040">
                  <a:moveTo>
                    <a:pt x="0" y="0"/>
                  </a:moveTo>
                  <a:lnTo>
                    <a:pt x="11704320" y="0"/>
                  </a:lnTo>
                  <a:lnTo>
                    <a:pt x="11704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5880" b="-10588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1704320" cy="154876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600"/>
                </a:lnSpc>
              </a:pPr>
              <a:r>
                <a:rPr lang="he-IL" sz="2400" b="1" dirty="0">
                  <a:latin typeface="Arial"/>
                  <a:ea typeface="Arial"/>
                  <a:cs typeface="Arial"/>
                  <a:sym typeface="Arial"/>
                  <a:rtl/>
                </a:rPr>
                <a:t>במקום בדיקה ידנית של כל חשבון, המודל לומד מדוגמאות מתויגות, מכליל למשתמשים חדשים, ומשתפר באמצעות למידה אקטיבית.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17636" y="3208972"/>
            <a:ext cx="8778240" cy="425768"/>
            <a:chOff x="0" y="-19050"/>
            <a:chExt cx="11704320" cy="5676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704320" cy="548640"/>
            </a:xfrm>
            <a:custGeom>
              <a:avLst/>
              <a:gdLst/>
              <a:ahLst/>
              <a:cxnLst/>
              <a:rect l="l" t="t" r="r" b="b"/>
              <a:pathLst>
                <a:path w="11704320" h="548640">
                  <a:moveTo>
                    <a:pt x="0" y="0"/>
                  </a:moveTo>
                  <a:lnTo>
                    <a:pt x="11704320" y="0"/>
                  </a:lnTo>
                  <a:lnTo>
                    <a:pt x="11704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65680" b="-36568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170432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שלוש משימות סיווג בלתי-תלויות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838176" y="3757612"/>
            <a:ext cx="4457700" cy="562928"/>
            <a:chOff x="0" y="-19050"/>
            <a:chExt cx="5943600" cy="7505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8315" b="-1083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943600" cy="75057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target_population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17636" y="3764756"/>
            <a:ext cx="4183380" cy="555784"/>
            <a:chOff x="0" y="-9525"/>
            <a:chExt cx="5577840" cy="74104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577840" cy="731520"/>
            </a:xfrm>
            <a:custGeom>
              <a:avLst/>
              <a:gdLst/>
              <a:ahLst/>
              <a:cxnLst/>
              <a:rect l="l" t="t" r="r" b="b"/>
              <a:pathLst>
                <a:path w="5577840" h="731520">
                  <a:moveTo>
                    <a:pt x="0" y="0"/>
                  </a:moveTo>
                  <a:lnTo>
                    <a:pt x="5577840" y="0"/>
                  </a:lnTo>
                  <a:lnTo>
                    <a:pt x="557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8573" b="-9857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577840" cy="74104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100" b="1" dirty="0">
                  <a:latin typeface="Arial"/>
                  <a:ea typeface="Arial"/>
                  <a:cs typeface="Arial"/>
                  <a:sym typeface="Arial"/>
                  <a:rtl/>
                </a:rPr>
                <a:t>איראני, לא, או </a:t>
              </a:r>
              <a:r>
                <a:rPr lang="en-US" sz="2100" b="1" dirty="0">
                  <a:latin typeface="Arial"/>
                  <a:ea typeface="Arial"/>
                  <a:cs typeface="Arial"/>
                  <a:sym typeface="Arial"/>
                </a:rPr>
                <a:t>unknown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838176" y="4580572"/>
            <a:ext cx="4457700" cy="562928"/>
            <a:chOff x="0" y="-19050"/>
            <a:chExt cx="5943600" cy="75057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8315" b="-1083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5943600" cy="75057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locals_vs_diaspora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517636" y="4587716"/>
            <a:ext cx="4183380" cy="555784"/>
            <a:chOff x="0" y="-9525"/>
            <a:chExt cx="5577840" cy="74104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577840" cy="731520"/>
            </a:xfrm>
            <a:custGeom>
              <a:avLst/>
              <a:gdLst/>
              <a:ahLst/>
              <a:cxnLst/>
              <a:rect l="l" t="t" r="r" b="b"/>
              <a:pathLst>
                <a:path w="5577840" h="731520">
                  <a:moveTo>
                    <a:pt x="0" y="0"/>
                  </a:moveTo>
                  <a:lnTo>
                    <a:pt x="5577840" y="0"/>
                  </a:lnTo>
                  <a:lnTo>
                    <a:pt x="557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8573" b="-9857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5577840" cy="74104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100" b="1" dirty="0">
                  <a:latin typeface="Arial"/>
                  <a:ea typeface="Arial"/>
                  <a:cs typeface="Arial"/>
                  <a:sym typeface="Arial"/>
                  <a:rtl/>
                </a:rPr>
                <a:t>מקומי, תפוצות, או </a:t>
              </a:r>
              <a:r>
                <a:rPr lang="en-US" sz="2100" b="1" dirty="0">
                  <a:latin typeface="Arial"/>
                  <a:ea typeface="Arial"/>
                  <a:cs typeface="Arial"/>
                  <a:sym typeface="Arial"/>
                </a:rPr>
                <a:t>unknown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838176" y="5403532"/>
            <a:ext cx="4457700" cy="562928"/>
            <a:chOff x="0" y="-19050"/>
            <a:chExt cx="5943600" cy="7505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8315" b="-1083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5943600" cy="75057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person_vs_organization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517636" y="5410676"/>
            <a:ext cx="4183380" cy="555784"/>
            <a:chOff x="0" y="-9525"/>
            <a:chExt cx="5577840" cy="74104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577840" cy="731520"/>
            </a:xfrm>
            <a:custGeom>
              <a:avLst/>
              <a:gdLst/>
              <a:ahLst/>
              <a:cxnLst/>
              <a:rect l="l" t="t" r="r" b="b"/>
              <a:pathLst>
                <a:path w="5577840" h="731520">
                  <a:moveTo>
                    <a:pt x="0" y="0"/>
                  </a:moveTo>
                  <a:lnTo>
                    <a:pt x="5577840" y="0"/>
                  </a:lnTo>
                  <a:lnTo>
                    <a:pt x="557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8573" b="-9857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5577840" cy="74104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100" b="1" dirty="0">
                  <a:latin typeface="Arial"/>
                  <a:ea typeface="Arial"/>
                  <a:cs typeface="Arial"/>
                  <a:sym typeface="Arial"/>
                  <a:rtl/>
                </a:rPr>
                <a:t>אדם, ארגון, או </a:t>
              </a:r>
              <a:r>
                <a:rPr lang="en-US" sz="2100" b="1" dirty="0">
                  <a:latin typeface="Arial"/>
                  <a:ea typeface="Arial"/>
                  <a:cs typeface="Arial"/>
                  <a:sym typeface="Arial"/>
                </a:rPr>
                <a:t>unknown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78027" y="2047875"/>
            <a:ext cx="7014210" cy="4339590"/>
            <a:chOff x="0" y="0"/>
            <a:chExt cx="9352280" cy="57861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352280" cy="5786120"/>
            </a:xfrm>
            <a:custGeom>
              <a:avLst/>
              <a:gdLst/>
              <a:ahLst/>
              <a:cxnLst/>
              <a:rect l="l" t="t" r="r" b="b"/>
              <a:pathLst>
                <a:path w="9352280" h="5786120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9242044" y="0"/>
                  </a:lnTo>
                  <a:cubicBezTo>
                    <a:pt x="9302876" y="0"/>
                    <a:pt x="9352280" y="49403"/>
                    <a:pt x="9352280" y="110236"/>
                  </a:cubicBezTo>
                  <a:lnTo>
                    <a:pt x="9352280" y="5675884"/>
                  </a:lnTo>
                  <a:cubicBezTo>
                    <a:pt x="9352280" y="5736717"/>
                    <a:pt x="9302876" y="5786120"/>
                    <a:pt x="9242044" y="5786120"/>
                  </a:cubicBezTo>
                  <a:lnTo>
                    <a:pt x="110236" y="5786120"/>
                  </a:lnTo>
                  <a:cubicBezTo>
                    <a:pt x="49403" y="5786120"/>
                    <a:pt x="0" y="5736717"/>
                    <a:pt x="0" y="5675884"/>
                  </a:cubicBezTo>
                  <a:close/>
                </a:path>
              </a:pathLst>
            </a:cu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marL="0" algn="r" defTabSz="914400" rtl="1" eaLnBrk="1" latinLnBrk="0" hangingPunct="1"/>
              <a:endPara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99032" y="2317432"/>
            <a:ext cx="6172200" cy="425768"/>
            <a:chOff x="0" y="-19050"/>
            <a:chExt cx="8229600" cy="56769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42275" b="-24227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822960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היקף הדאטה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99032" y="2866072"/>
            <a:ext cx="6172200" cy="768668"/>
            <a:chOff x="0" y="-19050"/>
            <a:chExt cx="8229600" cy="102489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229600" cy="1005840"/>
            </a:xfrm>
            <a:custGeom>
              <a:avLst/>
              <a:gdLst/>
              <a:ahLst/>
              <a:cxnLst/>
              <a:rect l="l" t="t" r="r" b="b"/>
              <a:pathLst>
                <a:path w="8229600" h="1005840">
                  <a:moveTo>
                    <a:pt x="0" y="0"/>
                  </a:moveTo>
                  <a:lnTo>
                    <a:pt x="8229600" y="0"/>
                  </a:lnTo>
                  <a:lnTo>
                    <a:pt x="8229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9423" b="-10942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8229600" cy="10248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759"/>
                </a:lnSpc>
              </a:pPr>
              <a:r>
                <a:rPr lang="en-US" sz="48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946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99032" y="3579304"/>
            <a:ext cx="6172200" cy="425768"/>
            <a:chOff x="0" y="-19050"/>
            <a:chExt cx="8229600" cy="56769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42275" b="-24227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822960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פרופילי </a:t>
              </a:r>
              <a:r>
                <a:rPr lang="en-US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עם מטא-דאטה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99032" y="4031932"/>
            <a:ext cx="6172200" cy="768668"/>
            <a:chOff x="0" y="-19050"/>
            <a:chExt cx="8229600" cy="102489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229600" cy="1005840"/>
            </a:xfrm>
            <a:custGeom>
              <a:avLst/>
              <a:gdLst/>
              <a:ahLst/>
              <a:cxnLst/>
              <a:rect l="l" t="t" r="r" b="b"/>
              <a:pathLst>
                <a:path w="8229600" h="1005840">
                  <a:moveTo>
                    <a:pt x="0" y="0"/>
                  </a:moveTo>
                  <a:lnTo>
                    <a:pt x="8229600" y="0"/>
                  </a:lnTo>
                  <a:lnTo>
                    <a:pt x="8229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9423" b="-10942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8229600" cy="10248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759"/>
                </a:lnSpc>
              </a:pPr>
              <a:r>
                <a:rPr lang="en-US" sz="48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21,810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99032" y="4745164"/>
            <a:ext cx="6172200" cy="425768"/>
            <a:chOff x="0" y="-19050"/>
            <a:chExt cx="8229600" cy="56769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42275" b="-24227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822960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ציוצים מנותחים, </a:t>
              </a:r>
              <a:r>
                <a:rPr lang="en-US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238</a:t>
              </a: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יוזרים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99032" y="5197792"/>
            <a:ext cx="6172200" cy="768668"/>
            <a:chOff x="0" y="-19050"/>
            <a:chExt cx="8229600" cy="102489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229600" cy="1005840"/>
            </a:xfrm>
            <a:custGeom>
              <a:avLst/>
              <a:gdLst/>
              <a:ahLst/>
              <a:cxnLst/>
              <a:rect l="l" t="t" r="r" b="b"/>
              <a:pathLst>
                <a:path w="8229600" h="1005840">
                  <a:moveTo>
                    <a:pt x="0" y="0"/>
                  </a:moveTo>
                  <a:lnTo>
                    <a:pt x="8229600" y="0"/>
                  </a:lnTo>
                  <a:lnTo>
                    <a:pt x="8229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9423" b="-109423"/>
              </a:stretch>
            </a:blipFill>
            <a:ln/>
          </p:spPr>
          <p:txBody>
            <a:bodyPr/>
            <a:lstStyle/>
            <a:p>
              <a:pPr marL="0" algn="r" defTabSz="914400" rtl="1" eaLnBrk="1" latinLnBrk="0" hangingPunct="1"/>
              <a:endParaRPr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8229600" cy="10248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4680"/>
                </a:lnSpc>
              </a:pPr>
              <a:r>
                <a:rPr lang="en-US" sz="39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 </a:t>
              </a:r>
              <a:r>
                <a:rPr lang="he-IL" sz="39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עד </a:t>
              </a:r>
              <a:r>
                <a:rPr lang="en-US" sz="39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640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99032" y="5911024"/>
            <a:ext cx="6172200" cy="425768"/>
            <a:chOff x="0" y="-19050"/>
            <a:chExt cx="8229600" cy="56769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42275" b="-24227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822960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גדילת התיוג בלמידה אקטיבית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87552" y="7049452"/>
            <a:ext cx="16308324" cy="562928"/>
            <a:chOff x="0" y="-19050"/>
            <a:chExt cx="21744432" cy="75057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744432" cy="731520"/>
            </a:xfrm>
            <a:custGeom>
              <a:avLst/>
              <a:gdLst/>
              <a:ahLst/>
              <a:cxnLst/>
              <a:rect l="l" t="t" r="r" b="b"/>
              <a:pathLst>
                <a:path w="21744432" h="731520">
                  <a:moveTo>
                    <a:pt x="0" y="0"/>
                  </a:moveTo>
                  <a:lnTo>
                    <a:pt x="21744432" y="0"/>
                  </a:lnTo>
                  <a:lnTo>
                    <a:pt x="217444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29192" b="-52919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21744432" cy="75057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700"/>
                </a:lnSpc>
              </a:pPr>
              <a:r>
                <a:rPr lang="he-IL" sz="2250" b="1" dirty="0">
                  <a:solidFill>
                    <a:srgbClr val="10552B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  <a:rtl/>
                </a:rPr>
                <a:t>האתגר: תיוג ידני יקר ואיטי, ולכן מתייגים רק את המקרים שהמודל הכי לא בטוח לגביהם.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1" b="-781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Picture 10" descr="bg-3-sec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4541522" y="1252824"/>
            <a:ext cx="11902049" cy="1160984"/>
            <a:chOff x="0" y="0"/>
            <a:chExt cx="15869399" cy="15479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869399" cy="1547978"/>
            </a:xfrm>
            <a:custGeom>
              <a:avLst/>
              <a:gdLst/>
              <a:ahLst/>
              <a:cxnLst/>
              <a:rect l="l" t="t" r="r" b="b"/>
              <a:pathLst>
                <a:path w="15869399" h="1547978">
                  <a:moveTo>
                    <a:pt x="0" y="0"/>
                  </a:moveTo>
                  <a:lnTo>
                    <a:pt x="15869399" y="0"/>
                  </a:lnTo>
                  <a:lnTo>
                    <a:pt x="15869399" y="1547978"/>
                  </a:lnTo>
                  <a:lnTo>
                    <a:pt x="0" y="1547978"/>
                  </a:lnTo>
                  <a:close/>
                </a:path>
              </a:pathLst>
            </a:custGeom>
            <a:solidFill>
              <a:srgbClr val="557A72">
                <a:alpha val="0"/>
              </a:srgbClr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5869399" cy="154797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7319"/>
                </a:lnSpc>
              </a:pPr>
              <a:r>
                <a:rPr lang="he-IL" sz="60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השיטה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40008" y="2587601"/>
            <a:ext cx="15838815" cy="2798720"/>
            <a:chOff x="0" y="-19050"/>
            <a:chExt cx="21031200" cy="37162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031200" cy="3697165"/>
            </a:xfrm>
            <a:custGeom>
              <a:avLst/>
              <a:gdLst/>
              <a:ahLst/>
              <a:cxnLst/>
              <a:rect l="l" t="t" r="r" b="b"/>
              <a:pathLst>
                <a:path w="21031200" h="3697165">
                  <a:moveTo>
                    <a:pt x="0" y="0"/>
                  </a:moveTo>
                  <a:lnTo>
                    <a:pt x="21031200" y="0"/>
                  </a:lnTo>
                  <a:lnTo>
                    <a:pt x="21031200" y="3697165"/>
                  </a:lnTo>
                  <a:lnTo>
                    <a:pt x="0" y="3697165"/>
                  </a:lnTo>
                  <a:close/>
                </a:path>
              </a:pathLst>
            </a:custGeom>
            <a:solidFill>
              <a:srgbClr val="25312B">
                <a:alpha val="0"/>
              </a:srgbClr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1031200" cy="371621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899"/>
                </a:lnSpc>
              </a:pPr>
              <a:r>
                <a:rPr lang="he-IL" sz="324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נתונים, תיוג, פיצ'רים, אימון, למידה אקטיבית, עצירה, אימות ואשכולות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134" name="Picture 133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744432" cy="4579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endParaRPr lang="he-IL" sz="1800" b="1" spc="149" dirty="0">
                <a:solidFill>
                  <a:srgbClr val="C8102E"/>
                </a:solidFill>
                <a:latin typeface="Arial Bold"/>
                <a:ea typeface="Arial Bold"/>
                <a:cs typeface="Arial Bold"/>
                <a:sym typeface="Arial Bold"/>
                <a:rtl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42112"/>
            <a:chOff x="0" y="0"/>
            <a:chExt cx="21744432" cy="989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989482"/>
            </a:xfrm>
            <a:custGeom>
              <a:avLst/>
              <a:gdLst/>
              <a:ahLst/>
              <a:cxnLst/>
              <a:rect l="l" t="t" r="r" b="b"/>
              <a:pathLst>
                <a:path w="21744432" h="989482">
                  <a:moveTo>
                    <a:pt x="0" y="0"/>
                  </a:moveTo>
                  <a:lnTo>
                    <a:pt x="21744432" y="0"/>
                  </a:lnTo>
                  <a:lnTo>
                    <a:pt x="21744432" y="989482"/>
                  </a:lnTo>
                  <a:lnTo>
                    <a:pt x="0" y="9894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81988" b="-37440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98948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680"/>
                </a:lnSpc>
              </a:pPr>
              <a:r>
                <a:rPr lang="he-IL" sz="390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תשעה שלבים בשרשרת, כל אחד נשען על תוצאות קודמו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Iran_POI   </a:t>
              </a:r>
              <a:r>
                <a:rPr lang="he-IL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שיטה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964543" y="2116455"/>
            <a:ext cx="5340858" cy="2241042"/>
            <a:chOff x="0" y="0"/>
            <a:chExt cx="7121144" cy="29880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21144" cy="2988056"/>
            </a:xfrm>
            <a:custGeom>
              <a:avLst/>
              <a:gdLst/>
              <a:ahLst/>
              <a:cxnLst/>
              <a:rect l="l" t="t" r="r" b="b"/>
              <a:pathLst>
                <a:path w="7121144" h="2988056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10527" y="0"/>
                  </a:lnTo>
                  <a:cubicBezTo>
                    <a:pt x="7071614" y="0"/>
                    <a:pt x="7121144" y="49530"/>
                    <a:pt x="7121144" y="110617"/>
                  </a:cubicBezTo>
                  <a:lnTo>
                    <a:pt x="7121144" y="2877439"/>
                  </a:lnTo>
                  <a:cubicBezTo>
                    <a:pt x="7121144" y="2938526"/>
                    <a:pt x="7071614" y="2988056"/>
                    <a:pt x="7010527" y="2988056"/>
                  </a:cubicBezTo>
                  <a:lnTo>
                    <a:pt x="110617" y="2988056"/>
                  </a:lnTo>
                  <a:cubicBezTo>
                    <a:pt x="49530" y="2988056"/>
                    <a:pt x="0" y="2938526"/>
                    <a:pt x="0" y="2877439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58716" y="2125980"/>
            <a:ext cx="137160" cy="2221992"/>
            <a:chOff x="0" y="0"/>
            <a:chExt cx="182880" cy="29626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2880" cy="2962656"/>
            </a:xfrm>
            <a:custGeom>
              <a:avLst/>
              <a:gdLst/>
              <a:ahLst/>
              <a:cxnLst/>
              <a:rect l="l" t="t" r="r" b="b"/>
              <a:pathLst>
                <a:path w="182880" h="2962656">
                  <a:moveTo>
                    <a:pt x="0" y="0"/>
                  </a:moveTo>
                  <a:lnTo>
                    <a:pt x="182880" y="0"/>
                  </a:lnTo>
                  <a:lnTo>
                    <a:pt x="18288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8F3340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226028" y="2413444"/>
            <a:ext cx="685800" cy="700088"/>
            <a:chOff x="0" y="-19050"/>
            <a:chExt cx="914400" cy="9334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248388" y="2475452"/>
            <a:ext cx="3922776" cy="610648"/>
            <a:chOff x="0" y="-9525"/>
            <a:chExt cx="5230368" cy="8141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30368" cy="804672"/>
            </a:xfrm>
            <a:custGeom>
              <a:avLst/>
              <a:gdLst/>
              <a:ahLst/>
              <a:cxnLst/>
              <a:rect l="l" t="t" r="r" b="b"/>
              <a:pathLst>
                <a:path w="5230368" h="804672">
                  <a:moveTo>
                    <a:pt x="0" y="0"/>
                  </a:moveTo>
                  <a:lnTo>
                    <a:pt x="5230368" y="0"/>
                  </a:lnTo>
                  <a:lnTo>
                    <a:pt x="523036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652" b="-7665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5230368" cy="8141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בחירת אוכלוסייה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248388" y="3291268"/>
            <a:ext cx="4773168" cy="700088"/>
            <a:chOff x="0" y="-19050"/>
            <a:chExt cx="6364224" cy="9334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64224" cy="914400"/>
            </a:xfrm>
            <a:custGeom>
              <a:avLst/>
              <a:gdLst/>
              <a:ahLst/>
              <a:cxnLst/>
              <a:rect l="l" t="t" r="r" b="b"/>
              <a:pathLst>
                <a:path w="6364224" h="914400">
                  <a:moveTo>
                    <a:pt x="0" y="0"/>
                  </a:moveTo>
                  <a:lnTo>
                    <a:pt x="6364224" y="0"/>
                  </a:lnTo>
                  <a:lnTo>
                    <a:pt x="6364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5615" b="-856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6364224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50"/>
                </a:lnSpc>
              </a:pPr>
              <a:r>
                <a:rPr lang="he-IL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איראנים ברשת </a:t>
              </a:r>
              <a:r>
                <a:rPr lang="en-US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382131" y="2116455"/>
            <a:ext cx="5340858" cy="2241042"/>
            <a:chOff x="0" y="0"/>
            <a:chExt cx="7121144" cy="29880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21144" cy="2988056"/>
            </a:xfrm>
            <a:custGeom>
              <a:avLst/>
              <a:gdLst/>
              <a:ahLst/>
              <a:cxnLst/>
              <a:rect l="l" t="t" r="r" b="b"/>
              <a:pathLst>
                <a:path w="7121144" h="2988056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10527" y="0"/>
                  </a:lnTo>
                  <a:cubicBezTo>
                    <a:pt x="7071614" y="0"/>
                    <a:pt x="7121144" y="49530"/>
                    <a:pt x="7121144" y="110617"/>
                  </a:cubicBezTo>
                  <a:lnTo>
                    <a:pt x="7121144" y="2877439"/>
                  </a:lnTo>
                  <a:cubicBezTo>
                    <a:pt x="7121144" y="2938526"/>
                    <a:pt x="7071614" y="2988056"/>
                    <a:pt x="7010527" y="2988056"/>
                  </a:cubicBezTo>
                  <a:lnTo>
                    <a:pt x="110617" y="2988056"/>
                  </a:lnTo>
                  <a:cubicBezTo>
                    <a:pt x="49530" y="2988056"/>
                    <a:pt x="0" y="2938526"/>
                    <a:pt x="0" y="2877439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576304" y="2125980"/>
            <a:ext cx="137160" cy="2221992"/>
            <a:chOff x="0" y="0"/>
            <a:chExt cx="182880" cy="29626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82880" cy="2962656"/>
            </a:xfrm>
            <a:custGeom>
              <a:avLst/>
              <a:gdLst/>
              <a:ahLst/>
              <a:cxnLst/>
              <a:rect l="l" t="t" r="r" b="b"/>
              <a:pathLst>
                <a:path w="182880" h="2962656">
                  <a:moveTo>
                    <a:pt x="0" y="0"/>
                  </a:moveTo>
                  <a:lnTo>
                    <a:pt x="182880" y="0"/>
                  </a:lnTo>
                  <a:lnTo>
                    <a:pt x="18288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8F3340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643616" y="2413444"/>
            <a:ext cx="685800" cy="700088"/>
            <a:chOff x="0" y="-19050"/>
            <a:chExt cx="914400" cy="9334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5976" y="2475452"/>
            <a:ext cx="3922776" cy="610648"/>
            <a:chOff x="0" y="-9525"/>
            <a:chExt cx="5230368" cy="81419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230368" cy="804672"/>
            </a:xfrm>
            <a:custGeom>
              <a:avLst/>
              <a:gdLst/>
              <a:ahLst/>
              <a:cxnLst/>
              <a:rect l="l" t="t" r="r" b="b"/>
              <a:pathLst>
                <a:path w="5230368" h="804672">
                  <a:moveTo>
                    <a:pt x="0" y="0"/>
                  </a:moveTo>
                  <a:lnTo>
                    <a:pt x="5230368" y="0"/>
                  </a:lnTo>
                  <a:lnTo>
                    <a:pt x="523036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652" b="-7665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5230368" cy="8141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ניתוח סטטיסטי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65976" y="3291268"/>
            <a:ext cx="4773168" cy="700088"/>
            <a:chOff x="0" y="-19050"/>
            <a:chExt cx="6364224" cy="9334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364224" cy="914400"/>
            </a:xfrm>
            <a:custGeom>
              <a:avLst/>
              <a:gdLst/>
              <a:ahLst/>
              <a:cxnLst/>
              <a:rect l="l" t="t" r="r" b="b"/>
              <a:pathLst>
                <a:path w="6364224" h="914400">
                  <a:moveTo>
                    <a:pt x="0" y="0"/>
                  </a:moveTo>
                  <a:lnTo>
                    <a:pt x="6364224" y="0"/>
                  </a:lnTo>
                  <a:lnTo>
                    <a:pt x="6364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5615" b="-856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364224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50"/>
                </a:lnSpc>
              </a:pPr>
              <a:r>
                <a:rPr lang="en-US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945</a:t>
              </a:r>
              <a:r>
                <a:rPr lang="he-IL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יוזרים, היסטוגרמות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99719" y="2116455"/>
            <a:ext cx="5340858" cy="2241042"/>
            <a:chOff x="0" y="0"/>
            <a:chExt cx="7121144" cy="298805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121144" cy="2988056"/>
            </a:xfrm>
            <a:custGeom>
              <a:avLst/>
              <a:gdLst/>
              <a:ahLst/>
              <a:cxnLst/>
              <a:rect l="l" t="t" r="r" b="b"/>
              <a:pathLst>
                <a:path w="7121144" h="2988056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10527" y="0"/>
                  </a:lnTo>
                  <a:cubicBezTo>
                    <a:pt x="7071614" y="0"/>
                    <a:pt x="7121144" y="49530"/>
                    <a:pt x="7121144" y="110617"/>
                  </a:cubicBezTo>
                  <a:lnTo>
                    <a:pt x="7121144" y="2877439"/>
                  </a:lnTo>
                  <a:cubicBezTo>
                    <a:pt x="7121144" y="2938526"/>
                    <a:pt x="7071614" y="2988056"/>
                    <a:pt x="7010527" y="2988056"/>
                  </a:cubicBezTo>
                  <a:lnTo>
                    <a:pt x="110617" y="2988056"/>
                  </a:lnTo>
                  <a:cubicBezTo>
                    <a:pt x="49530" y="2988056"/>
                    <a:pt x="0" y="2938526"/>
                    <a:pt x="0" y="2877439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993892" y="2125980"/>
            <a:ext cx="137160" cy="2221992"/>
            <a:chOff x="0" y="0"/>
            <a:chExt cx="182880" cy="296265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82880" cy="2962656"/>
            </a:xfrm>
            <a:custGeom>
              <a:avLst/>
              <a:gdLst/>
              <a:ahLst/>
              <a:cxnLst/>
              <a:rect l="l" t="t" r="r" b="b"/>
              <a:pathLst>
                <a:path w="182880" h="2962656">
                  <a:moveTo>
                    <a:pt x="0" y="0"/>
                  </a:moveTo>
                  <a:lnTo>
                    <a:pt x="182880" y="0"/>
                  </a:lnTo>
                  <a:lnTo>
                    <a:pt x="18288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8F3340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061204" y="2413444"/>
            <a:ext cx="685800" cy="700088"/>
            <a:chOff x="0" y="-19050"/>
            <a:chExt cx="914400" cy="93345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83564" y="2475452"/>
            <a:ext cx="3922776" cy="610648"/>
            <a:chOff x="0" y="-9525"/>
            <a:chExt cx="5230368" cy="81419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230368" cy="804672"/>
            </a:xfrm>
            <a:custGeom>
              <a:avLst/>
              <a:gdLst/>
              <a:ahLst/>
              <a:cxnLst/>
              <a:rect l="l" t="t" r="r" b="b"/>
              <a:pathLst>
                <a:path w="5230368" h="804672">
                  <a:moveTo>
                    <a:pt x="0" y="0"/>
                  </a:moveTo>
                  <a:lnTo>
                    <a:pt x="5230368" y="0"/>
                  </a:lnTo>
                  <a:lnTo>
                    <a:pt x="523036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652" b="-7665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5230368" cy="8141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תיוג ידני כפול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83564" y="3291268"/>
            <a:ext cx="4773168" cy="700088"/>
            <a:chOff x="0" y="-19050"/>
            <a:chExt cx="6364224" cy="93345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364224" cy="914400"/>
            </a:xfrm>
            <a:custGeom>
              <a:avLst/>
              <a:gdLst/>
              <a:ahLst/>
              <a:cxnLst/>
              <a:rect l="l" t="t" r="r" b="b"/>
              <a:pathLst>
                <a:path w="6364224" h="914400">
                  <a:moveTo>
                    <a:pt x="0" y="0"/>
                  </a:moveTo>
                  <a:lnTo>
                    <a:pt x="6364224" y="0"/>
                  </a:lnTo>
                  <a:lnTo>
                    <a:pt x="6364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5615" b="-856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6364224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50"/>
                </a:lnSpc>
              </a:pPr>
              <a:r>
                <a:rPr lang="en-US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r>
                <a:rPr lang="he-IL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יוזרים, מדד קאפא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964543" y="4557903"/>
            <a:ext cx="5340858" cy="2241042"/>
            <a:chOff x="0" y="0"/>
            <a:chExt cx="7121144" cy="298805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121144" cy="2988056"/>
            </a:xfrm>
            <a:custGeom>
              <a:avLst/>
              <a:gdLst/>
              <a:ahLst/>
              <a:cxnLst/>
              <a:rect l="l" t="t" r="r" b="b"/>
              <a:pathLst>
                <a:path w="7121144" h="2988056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10527" y="0"/>
                  </a:lnTo>
                  <a:cubicBezTo>
                    <a:pt x="7071614" y="0"/>
                    <a:pt x="7121144" y="49530"/>
                    <a:pt x="7121144" y="110617"/>
                  </a:cubicBezTo>
                  <a:lnTo>
                    <a:pt x="7121144" y="2877439"/>
                  </a:lnTo>
                  <a:cubicBezTo>
                    <a:pt x="7121144" y="2938526"/>
                    <a:pt x="7071614" y="2988056"/>
                    <a:pt x="7010527" y="2988056"/>
                  </a:cubicBezTo>
                  <a:lnTo>
                    <a:pt x="110617" y="2988056"/>
                  </a:lnTo>
                  <a:cubicBezTo>
                    <a:pt x="49530" y="2988056"/>
                    <a:pt x="0" y="2938526"/>
                    <a:pt x="0" y="2877439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7158716" y="4567428"/>
            <a:ext cx="137160" cy="2221992"/>
            <a:chOff x="0" y="0"/>
            <a:chExt cx="182880" cy="296265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82880" cy="2962656"/>
            </a:xfrm>
            <a:custGeom>
              <a:avLst/>
              <a:gdLst/>
              <a:ahLst/>
              <a:cxnLst/>
              <a:rect l="l" t="t" r="r" b="b"/>
              <a:pathLst>
                <a:path w="182880" h="2962656">
                  <a:moveTo>
                    <a:pt x="0" y="0"/>
                  </a:moveTo>
                  <a:lnTo>
                    <a:pt x="182880" y="0"/>
                  </a:lnTo>
                  <a:lnTo>
                    <a:pt x="18288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315A43"/>
            </a:solidFill>
            <a:ln/>
          </p:spPr>
          <p:txBody>
            <a:bodyPr/>
            <a:lstStyle/>
            <a:p>
              <a:pPr marL="0" algn="r" defTabSz="914400" rtl="1" eaLnBrk="1" latinLnBrk="0" hangingPunct="1"/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6226028" y="4854892"/>
            <a:ext cx="685800" cy="700088"/>
            <a:chOff x="0" y="-19050"/>
            <a:chExt cx="914400" cy="93345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248388" y="4916900"/>
            <a:ext cx="3922776" cy="610648"/>
            <a:chOff x="0" y="-9525"/>
            <a:chExt cx="5230368" cy="814197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230368" cy="804672"/>
            </a:xfrm>
            <a:custGeom>
              <a:avLst/>
              <a:gdLst/>
              <a:ahLst/>
              <a:cxnLst/>
              <a:rect l="l" t="t" r="r" b="b"/>
              <a:pathLst>
                <a:path w="5230368" h="804672">
                  <a:moveTo>
                    <a:pt x="0" y="0"/>
                  </a:moveTo>
                  <a:lnTo>
                    <a:pt x="5230368" y="0"/>
                  </a:lnTo>
                  <a:lnTo>
                    <a:pt x="523036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652" b="-7665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5230368" cy="8141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תרשימי החלטה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248388" y="5732716"/>
            <a:ext cx="4773168" cy="700088"/>
            <a:chOff x="0" y="-19050"/>
            <a:chExt cx="6364224" cy="93345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364224" cy="914400"/>
            </a:xfrm>
            <a:custGeom>
              <a:avLst/>
              <a:gdLst/>
              <a:ahLst/>
              <a:cxnLst/>
              <a:rect l="l" t="t" r="r" b="b"/>
              <a:pathLst>
                <a:path w="6364224" h="914400">
                  <a:moveTo>
                    <a:pt x="0" y="0"/>
                  </a:moveTo>
                  <a:lnTo>
                    <a:pt x="6364224" y="0"/>
                  </a:lnTo>
                  <a:lnTo>
                    <a:pt x="6364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5615" b="-856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6364224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50"/>
                </a:lnSpc>
              </a:pPr>
              <a:r>
                <a:rPr lang="he-IL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שלושה תרשימי זרימה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382131" y="4557903"/>
            <a:ext cx="5340858" cy="2241042"/>
            <a:chOff x="0" y="0"/>
            <a:chExt cx="7121144" cy="298805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121144" cy="2988056"/>
            </a:xfrm>
            <a:custGeom>
              <a:avLst/>
              <a:gdLst/>
              <a:ahLst/>
              <a:cxnLst/>
              <a:rect l="l" t="t" r="r" b="b"/>
              <a:pathLst>
                <a:path w="7121144" h="2988056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10527" y="0"/>
                  </a:lnTo>
                  <a:cubicBezTo>
                    <a:pt x="7071614" y="0"/>
                    <a:pt x="7121144" y="49530"/>
                    <a:pt x="7121144" y="110617"/>
                  </a:cubicBezTo>
                  <a:lnTo>
                    <a:pt x="7121144" y="2877439"/>
                  </a:lnTo>
                  <a:cubicBezTo>
                    <a:pt x="7121144" y="2938526"/>
                    <a:pt x="7071614" y="2988056"/>
                    <a:pt x="7010527" y="2988056"/>
                  </a:cubicBezTo>
                  <a:lnTo>
                    <a:pt x="110617" y="2988056"/>
                  </a:lnTo>
                  <a:cubicBezTo>
                    <a:pt x="49530" y="2988056"/>
                    <a:pt x="0" y="2938526"/>
                    <a:pt x="0" y="2877439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576304" y="4567428"/>
            <a:ext cx="137160" cy="2221992"/>
            <a:chOff x="0" y="0"/>
            <a:chExt cx="182880" cy="296265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82880" cy="2962656"/>
            </a:xfrm>
            <a:custGeom>
              <a:avLst/>
              <a:gdLst/>
              <a:ahLst/>
              <a:cxnLst/>
              <a:rect l="l" t="t" r="r" b="b"/>
              <a:pathLst>
                <a:path w="182880" h="2962656">
                  <a:moveTo>
                    <a:pt x="0" y="0"/>
                  </a:moveTo>
                  <a:lnTo>
                    <a:pt x="182880" y="0"/>
                  </a:lnTo>
                  <a:lnTo>
                    <a:pt x="18288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315A43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643616" y="4854892"/>
            <a:ext cx="685800" cy="700088"/>
            <a:chOff x="0" y="-19050"/>
            <a:chExt cx="914400" cy="93345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665976" y="4916900"/>
            <a:ext cx="3922776" cy="610648"/>
            <a:chOff x="0" y="-9525"/>
            <a:chExt cx="5230368" cy="81419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230368" cy="804672"/>
            </a:xfrm>
            <a:custGeom>
              <a:avLst/>
              <a:gdLst/>
              <a:ahLst/>
              <a:cxnLst/>
              <a:rect l="l" t="t" r="r" b="b"/>
              <a:pathLst>
                <a:path w="5230368" h="804672">
                  <a:moveTo>
                    <a:pt x="0" y="0"/>
                  </a:moveTo>
                  <a:lnTo>
                    <a:pt x="5230368" y="0"/>
                  </a:lnTo>
                  <a:lnTo>
                    <a:pt x="523036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652" b="-7665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5230368" cy="8141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אימון מסווגים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665976" y="5732716"/>
            <a:ext cx="4773168" cy="700088"/>
            <a:chOff x="0" y="-19050"/>
            <a:chExt cx="6364224" cy="93345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364224" cy="914400"/>
            </a:xfrm>
            <a:custGeom>
              <a:avLst/>
              <a:gdLst/>
              <a:ahLst/>
              <a:cxnLst/>
              <a:rect l="l" t="t" r="r" b="b"/>
              <a:pathLst>
                <a:path w="6364224" h="914400">
                  <a:moveTo>
                    <a:pt x="0" y="0"/>
                  </a:moveTo>
                  <a:lnTo>
                    <a:pt x="6364224" y="0"/>
                  </a:lnTo>
                  <a:lnTo>
                    <a:pt x="6364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5615" b="-856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6364224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50"/>
                </a:lnSpc>
              </a:pPr>
              <a:r>
                <a:rPr lang="en-US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1,296</a:t>
              </a:r>
              <a:r>
                <a:rPr lang="he-IL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ניסויים לאיטרציה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99719" y="4557903"/>
            <a:ext cx="5340858" cy="2241042"/>
            <a:chOff x="0" y="0"/>
            <a:chExt cx="7121144" cy="298805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121144" cy="2988056"/>
            </a:xfrm>
            <a:custGeom>
              <a:avLst/>
              <a:gdLst/>
              <a:ahLst/>
              <a:cxnLst/>
              <a:rect l="l" t="t" r="r" b="b"/>
              <a:pathLst>
                <a:path w="7121144" h="2988056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10527" y="0"/>
                  </a:lnTo>
                  <a:cubicBezTo>
                    <a:pt x="7071614" y="0"/>
                    <a:pt x="7121144" y="49530"/>
                    <a:pt x="7121144" y="110617"/>
                  </a:cubicBezTo>
                  <a:lnTo>
                    <a:pt x="7121144" y="2877439"/>
                  </a:lnTo>
                  <a:cubicBezTo>
                    <a:pt x="7121144" y="2938526"/>
                    <a:pt x="7071614" y="2988056"/>
                    <a:pt x="7010527" y="2988056"/>
                  </a:cubicBezTo>
                  <a:lnTo>
                    <a:pt x="110617" y="2988056"/>
                  </a:lnTo>
                  <a:cubicBezTo>
                    <a:pt x="49530" y="2988056"/>
                    <a:pt x="0" y="2938526"/>
                    <a:pt x="0" y="2877439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993892" y="4567428"/>
            <a:ext cx="137160" cy="2221992"/>
            <a:chOff x="0" y="0"/>
            <a:chExt cx="182880" cy="296265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82880" cy="2962656"/>
            </a:xfrm>
            <a:custGeom>
              <a:avLst/>
              <a:gdLst/>
              <a:ahLst/>
              <a:cxnLst/>
              <a:rect l="l" t="t" r="r" b="b"/>
              <a:pathLst>
                <a:path w="182880" h="2962656">
                  <a:moveTo>
                    <a:pt x="0" y="0"/>
                  </a:moveTo>
                  <a:lnTo>
                    <a:pt x="182880" y="0"/>
                  </a:lnTo>
                  <a:lnTo>
                    <a:pt x="18288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315A43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061204" y="4854892"/>
            <a:ext cx="685800" cy="700088"/>
            <a:chOff x="0" y="-19050"/>
            <a:chExt cx="914400" cy="93345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083564" y="4916900"/>
            <a:ext cx="3922776" cy="610648"/>
            <a:chOff x="0" y="-9525"/>
            <a:chExt cx="5230368" cy="81419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230368" cy="804672"/>
            </a:xfrm>
            <a:custGeom>
              <a:avLst/>
              <a:gdLst/>
              <a:ahLst/>
              <a:cxnLst/>
              <a:rect l="l" t="t" r="r" b="b"/>
              <a:pathLst>
                <a:path w="5230368" h="804672">
                  <a:moveTo>
                    <a:pt x="0" y="0"/>
                  </a:moveTo>
                  <a:lnTo>
                    <a:pt x="5230368" y="0"/>
                  </a:lnTo>
                  <a:lnTo>
                    <a:pt x="523036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652" b="-7665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5230368" cy="8141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למידה אקטיבית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83564" y="5732716"/>
            <a:ext cx="4773168" cy="700088"/>
            <a:chOff x="0" y="-19050"/>
            <a:chExt cx="6364224" cy="93345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364224" cy="914400"/>
            </a:xfrm>
            <a:custGeom>
              <a:avLst/>
              <a:gdLst/>
              <a:ahLst/>
              <a:cxnLst/>
              <a:rect l="l" t="t" r="r" b="b"/>
              <a:pathLst>
                <a:path w="6364224" h="914400">
                  <a:moveTo>
                    <a:pt x="0" y="0"/>
                  </a:moveTo>
                  <a:lnTo>
                    <a:pt x="6364224" y="0"/>
                  </a:lnTo>
                  <a:lnTo>
                    <a:pt x="6364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5615" b="-856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19050"/>
              <a:ext cx="6364224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50"/>
                </a:lnSpc>
              </a:pPr>
              <a:r>
                <a:rPr lang="he-IL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שבע איטרציות, </a:t>
              </a:r>
              <a:r>
                <a:rPr lang="en-US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r>
                <a:rPr lang="he-IL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עד </a:t>
              </a:r>
              <a:r>
                <a:rPr lang="en-US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640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1964543" y="6999351"/>
            <a:ext cx="5340858" cy="2241042"/>
            <a:chOff x="0" y="0"/>
            <a:chExt cx="7121144" cy="2988056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7121144" cy="2988056"/>
            </a:xfrm>
            <a:custGeom>
              <a:avLst/>
              <a:gdLst/>
              <a:ahLst/>
              <a:cxnLst/>
              <a:rect l="l" t="t" r="r" b="b"/>
              <a:pathLst>
                <a:path w="7121144" h="2988056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10527" y="0"/>
                  </a:lnTo>
                  <a:cubicBezTo>
                    <a:pt x="7071614" y="0"/>
                    <a:pt x="7121144" y="49530"/>
                    <a:pt x="7121144" y="110617"/>
                  </a:cubicBezTo>
                  <a:lnTo>
                    <a:pt x="7121144" y="2877439"/>
                  </a:lnTo>
                  <a:cubicBezTo>
                    <a:pt x="7121144" y="2938526"/>
                    <a:pt x="7071614" y="2988056"/>
                    <a:pt x="7010527" y="2988056"/>
                  </a:cubicBezTo>
                  <a:lnTo>
                    <a:pt x="110617" y="2988056"/>
                  </a:lnTo>
                  <a:cubicBezTo>
                    <a:pt x="49530" y="2988056"/>
                    <a:pt x="0" y="2938526"/>
                    <a:pt x="0" y="2877439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7158716" y="7008876"/>
            <a:ext cx="137160" cy="2221992"/>
            <a:chOff x="0" y="0"/>
            <a:chExt cx="182880" cy="2962656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82880" cy="2962656"/>
            </a:xfrm>
            <a:custGeom>
              <a:avLst/>
              <a:gdLst/>
              <a:ahLst/>
              <a:cxnLst/>
              <a:rect l="l" t="t" r="r" b="b"/>
              <a:pathLst>
                <a:path w="182880" h="2962656">
                  <a:moveTo>
                    <a:pt x="0" y="0"/>
                  </a:moveTo>
                  <a:lnTo>
                    <a:pt x="182880" y="0"/>
                  </a:lnTo>
                  <a:lnTo>
                    <a:pt x="18288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315A43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6226028" y="7296340"/>
            <a:ext cx="685800" cy="700088"/>
            <a:chOff x="0" y="-19050"/>
            <a:chExt cx="914400" cy="93345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248388" y="7358348"/>
            <a:ext cx="3922776" cy="610648"/>
            <a:chOff x="0" y="-9525"/>
            <a:chExt cx="5230368" cy="814197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230368" cy="804672"/>
            </a:xfrm>
            <a:custGeom>
              <a:avLst/>
              <a:gdLst/>
              <a:ahLst/>
              <a:cxnLst/>
              <a:rect l="l" t="t" r="r" b="b"/>
              <a:pathLst>
                <a:path w="5230368" h="804672">
                  <a:moveTo>
                    <a:pt x="0" y="0"/>
                  </a:moveTo>
                  <a:lnTo>
                    <a:pt x="5230368" y="0"/>
                  </a:lnTo>
                  <a:lnTo>
                    <a:pt x="523036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652" b="-7665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9525"/>
              <a:ext cx="5230368" cy="8141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קריטריון עצירה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2248388" y="8174164"/>
            <a:ext cx="4773168" cy="700088"/>
            <a:chOff x="0" y="-19050"/>
            <a:chExt cx="6364224" cy="93345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6364224" cy="914400"/>
            </a:xfrm>
            <a:custGeom>
              <a:avLst/>
              <a:gdLst/>
              <a:ahLst/>
              <a:cxnLst/>
              <a:rect l="l" t="t" r="r" b="b"/>
              <a:pathLst>
                <a:path w="6364224" h="914400">
                  <a:moveTo>
                    <a:pt x="0" y="0"/>
                  </a:moveTo>
                  <a:lnTo>
                    <a:pt x="6364224" y="0"/>
                  </a:lnTo>
                  <a:lnTo>
                    <a:pt x="6364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5615" b="-856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-19050"/>
              <a:ext cx="6364224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50"/>
                </a:lnSpc>
              </a:pPr>
              <a:r>
                <a:rPr lang="he-IL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זיהוי רוויה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382131" y="6999351"/>
            <a:ext cx="5340858" cy="2241042"/>
            <a:chOff x="0" y="0"/>
            <a:chExt cx="7121144" cy="2988056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7121144" cy="2988056"/>
            </a:xfrm>
            <a:custGeom>
              <a:avLst/>
              <a:gdLst/>
              <a:ahLst/>
              <a:cxnLst/>
              <a:rect l="l" t="t" r="r" b="b"/>
              <a:pathLst>
                <a:path w="7121144" h="2988056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10527" y="0"/>
                  </a:lnTo>
                  <a:cubicBezTo>
                    <a:pt x="7071614" y="0"/>
                    <a:pt x="7121144" y="49530"/>
                    <a:pt x="7121144" y="110617"/>
                  </a:cubicBezTo>
                  <a:lnTo>
                    <a:pt x="7121144" y="2877439"/>
                  </a:lnTo>
                  <a:cubicBezTo>
                    <a:pt x="7121144" y="2938526"/>
                    <a:pt x="7071614" y="2988056"/>
                    <a:pt x="7010527" y="2988056"/>
                  </a:cubicBezTo>
                  <a:lnTo>
                    <a:pt x="110617" y="2988056"/>
                  </a:lnTo>
                  <a:cubicBezTo>
                    <a:pt x="49530" y="2988056"/>
                    <a:pt x="0" y="2938526"/>
                    <a:pt x="0" y="2877439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1576304" y="7008876"/>
            <a:ext cx="137160" cy="2221992"/>
            <a:chOff x="0" y="0"/>
            <a:chExt cx="182880" cy="296265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82880" cy="2962656"/>
            </a:xfrm>
            <a:custGeom>
              <a:avLst/>
              <a:gdLst/>
              <a:ahLst/>
              <a:cxnLst/>
              <a:rect l="l" t="t" r="r" b="b"/>
              <a:pathLst>
                <a:path w="182880" h="2962656">
                  <a:moveTo>
                    <a:pt x="0" y="0"/>
                  </a:moveTo>
                  <a:lnTo>
                    <a:pt x="182880" y="0"/>
                  </a:lnTo>
                  <a:lnTo>
                    <a:pt x="18288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315A43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0643616" y="7296340"/>
            <a:ext cx="685800" cy="700088"/>
            <a:chOff x="0" y="-19050"/>
            <a:chExt cx="914400" cy="93345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6665976" y="7358348"/>
            <a:ext cx="3922776" cy="610648"/>
            <a:chOff x="0" y="-9525"/>
            <a:chExt cx="5230368" cy="814197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5230368" cy="804672"/>
            </a:xfrm>
            <a:custGeom>
              <a:avLst/>
              <a:gdLst/>
              <a:ahLst/>
              <a:cxnLst/>
              <a:rect l="l" t="t" r="r" b="b"/>
              <a:pathLst>
                <a:path w="5230368" h="804672">
                  <a:moveTo>
                    <a:pt x="0" y="0"/>
                  </a:moveTo>
                  <a:lnTo>
                    <a:pt x="5230368" y="0"/>
                  </a:lnTo>
                  <a:lnTo>
                    <a:pt x="523036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652" b="-7665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0" y="-9525"/>
              <a:ext cx="5230368" cy="8141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סף ביטחון והשוואת </a:t>
              </a:r>
              <a:r>
                <a:rPr lang="en-US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6665976" y="8174164"/>
            <a:ext cx="4773168" cy="700088"/>
            <a:chOff x="0" y="-19050"/>
            <a:chExt cx="6364224" cy="93345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6364224" cy="914400"/>
            </a:xfrm>
            <a:custGeom>
              <a:avLst/>
              <a:gdLst/>
              <a:ahLst/>
              <a:cxnLst/>
              <a:rect l="l" t="t" r="r" b="b"/>
              <a:pathLst>
                <a:path w="6364224" h="914400">
                  <a:moveTo>
                    <a:pt x="0" y="0"/>
                  </a:moveTo>
                  <a:lnTo>
                    <a:pt x="6364224" y="0"/>
                  </a:lnTo>
                  <a:lnTo>
                    <a:pt x="6364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39972" b="-13997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0" y="-19050"/>
              <a:ext cx="6364224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50"/>
                </a:lnSpc>
              </a:pPr>
              <a:r>
                <a:rPr lang="en-US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Hit Rate</a:t>
              </a:r>
              <a:r>
                <a:rPr lang="he-IL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, מול </a:t>
              </a:r>
              <a:r>
                <a:rPr lang="en-US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Claude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99719" y="6999351"/>
            <a:ext cx="5340858" cy="2241042"/>
            <a:chOff x="0" y="0"/>
            <a:chExt cx="7121144" cy="2988056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7121144" cy="2988056"/>
            </a:xfrm>
            <a:custGeom>
              <a:avLst/>
              <a:gdLst/>
              <a:ahLst/>
              <a:cxnLst/>
              <a:rect l="l" t="t" r="r" b="b"/>
              <a:pathLst>
                <a:path w="7121144" h="2988056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10527" y="0"/>
                  </a:lnTo>
                  <a:cubicBezTo>
                    <a:pt x="7071614" y="0"/>
                    <a:pt x="7121144" y="49530"/>
                    <a:pt x="7121144" y="110617"/>
                  </a:cubicBezTo>
                  <a:lnTo>
                    <a:pt x="7121144" y="2877439"/>
                  </a:lnTo>
                  <a:cubicBezTo>
                    <a:pt x="7121144" y="2938526"/>
                    <a:pt x="7071614" y="2988056"/>
                    <a:pt x="7010527" y="2988056"/>
                  </a:cubicBezTo>
                  <a:lnTo>
                    <a:pt x="110617" y="2988056"/>
                  </a:lnTo>
                  <a:cubicBezTo>
                    <a:pt x="49530" y="2988056"/>
                    <a:pt x="0" y="2938526"/>
                    <a:pt x="0" y="2877439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5993892" y="7008876"/>
            <a:ext cx="137160" cy="2221992"/>
            <a:chOff x="0" y="0"/>
            <a:chExt cx="182880" cy="2962656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182880" cy="2962656"/>
            </a:xfrm>
            <a:custGeom>
              <a:avLst/>
              <a:gdLst/>
              <a:ahLst/>
              <a:cxnLst/>
              <a:rect l="l" t="t" r="r" b="b"/>
              <a:pathLst>
                <a:path w="182880" h="2962656">
                  <a:moveTo>
                    <a:pt x="0" y="0"/>
                  </a:moveTo>
                  <a:lnTo>
                    <a:pt x="182880" y="0"/>
                  </a:lnTo>
                  <a:lnTo>
                    <a:pt x="18288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315A43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5061204" y="7296340"/>
            <a:ext cx="685800" cy="700088"/>
            <a:chOff x="0" y="-19050"/>
            <a:chExt cx="914400" cy="93345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083564" y="7358348"/>
            <a:ext cx="3922776" cy="610648"/>
            <a:chOff x="0" y="-9525"/>
            <a:chExt cx="5230368" cy="814197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5230368" cy="804672"/>
            </a:xfrm>
            <a:custGeom>
              <a:avLst/>
              <a:gdLst/>
              <a:ahLst/>
              <a:cxnLst/>
              <a:rect l="l" t="t" r="r" b="b"/>
              <a:pathLst>
                <a:path w="5230368" h="804672">
                  <a:moveTo>
                    <a:pt x="0" y="0"/>
                  </a:moveTo>
                  <a:lnTo>
                    <a:pt x="5230368" y="0"/>
                  </a:lnTo>
                  <a:lnTo>
                    <a:pt x="523036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652" b="-7665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0" y="-9525"/>
              <a:ext cx="5230368" cy="81419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אשכולות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083564" y="8174164"/>
            <a:ext cx="4773168" cy="700088"/>
            <a:chOff x="0" y="-19050"/>
            <a:chExt cx="6364224" cy="93345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6364224" cy="914400"/>
            </a:xfrm>
            <a:custGeom>
              <a:avLst/>
              <a:gdLst/>
              <a:ahLst/>
              <a:cxnLst/>
              <a:rect l="l" t="t" r="r" b="b"/>
              <a:pathLst>
                <a:path w="6364224" h="914400">
                  <a:moveTo>
                    <a:pt x="0" y="0"/>
                  </a:moveTo>
                  <a:lnTo>
                    <a:pt x="6364224" y="0"/>
                  </a:lnTo>
                  <a:lnTo>
                    <a:pt x="6364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5615" b="-856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0" y="-19050"/>
              <a:ext cx="6364224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50"/>
                </a:lnSpc>
              </a:pPr>
              <a:r>
                <a:rPr lang="en-US" sz="2025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KMeans, k=8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52" name="Picture 51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760952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pPr marL="0" algn="r" defTabSz="914400" rtl="1" eaLnBrk="1" latinLnBrk="0" hangingPunct="1"/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744432" cy="4579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endParaRPr lang="en-US" sz="1800" b="1" spc="149" dirty="0">
                <a:solidFill>
                  <a:srgbClr val="C8102E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55523"/>
            <a:chOff x="0" y="0"/>
            <a:chExt cx="21744432" cy="10073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1007364"/>
            </a:xfrm>
            <a:custGeom>
              <a:avLst/>
              <a:gdLst/>
              <a:ahLst/>
              <a:cxnLst/>
              <a:rect l="l" t="t" r="r" b="b"/>
              <a:pathLst>
                <a:path w="21744432" h="1007364">
                  <a:moveTo>
                    <a:pt x="0" y="0"/>
                  </a:moveTo>
                  <a:lnTo>
                    <a:pt x="21744432" y="0"/>
                  </a:lnTo>
                  <a:lnTo>
                    <a:pt x="21744432" y="1007364"/>
                  </a:lnTo>
                  <a:lnTo>
                    <a:pt x="0" y="10073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75208" b="-365979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100736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799"/>
                </a:lnSpc>
              </a:pPr>
              <a:r>
                <a:rPr lang="he-IL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התיוג הכפול נתן קאפא </a:t>
              </a:r>
              <a:r>
                <a:rPr lang="en-US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</a:rPr>
                <a:t>0.88</a:t>
              </a:r>
              <a:r>
                <a:rPr lang="he-IL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 במשימה המרכזית, בסיס אמין לאימון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38360" y="2050256"/>
            <a:ext cx="7543800" cy="528088"/>
            <a:chOff x="0" y="-9525"/>
            <a:chExt cx="10058400" cy="7041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58400" cy="694592"/>
            </a:xfrm>
            <a:custGeom>
              <a:avLst/>
              <a:gdLst/>
              <a:ahLst/>
              <a:cxnLst/>
              <a:rect l="l" t="t" r="r" b="b"/>
              <a:pathLst>
                <a:path w="10058400" h="694592">
                  <a:moveTo>
                    <a:pt x="0" y="0"/>
                  </a:moveTo>
                  <a:lnTo>
                    <a:pt x="10058400" y="0"/>
                  </a:lnTo>
                  <a:lnTo>
                    <a:pt x="10058400" y="694592"/>
                  </a:lnTo>
                  <a:lnTo>
                    <a:pt x="0" y="694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42669" b="-221656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0058400" cy="70411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59"/>
                </a:lnSpc>
              </a:pPr>
              <a:r>
                <a:rPr lang="he-IL" sz="2549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היקף הניתוח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83496" y="2697480"/>
            <a:ext cx="7543800" cy="2663190"/>
            <a:chOff x="0" y="-76200"/>
            <a:chExt cx="10058400" cy="35509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58400" cy="3474720"/>
            </a:xfrm>
            <a:custGeom>
              <a:avLst/>
              <a:gdLst/>
              <a:ahLst/>
              <a:cxnLst/>
              <a:rect l="l" t="t" r="r" b="b"/>
              <a:pathLst>
                <a:path w="10058400" h="3474720">
                  <a:moveTo>
                    <a:pt x="0" y="0"/>
                  </a:moveTo>
                  <a:lnTo>
                    <a:pt x="10058400" y="0"/>
                  </a:lnTo>
                  <a:lnTo>
                    <a:pt x="100584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404" b="-640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10058400" cy="355092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marL="461485" lvl="1" indent="-230742" algn="just" rtl="1">
                <a:lnSpc>
                  <a:spcPts val="3739"/>
                </a:lnSpc>
                <a:buFont typeface="Arial"/>
                <a:buChar char="•"/>
              </a:pPr>
              <a:r>
                <a:rPr lang="en-US" sz="2549" b="1" dirty="0">
                  <a:latin typeface="Arial Bold"/>
                  <a:ea typeface="Arial Bold"/>
                  <a:cs typeface="Arial Bold"/>
                  <a:sym typeface="Arial Bold"/>
                </a:rPr>
                <a:t>946</a:t>
              </a: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he-IL" sz="2549" b="1" dirty="0" err="1">
                  <a:latin typeface="Arial Bold"/>
                  <a:ea typeface="Arial Bold"/>
                  <a:cs typeface="Arial Bold"/>
                  <a:sym typeface="Arial Bold"/>
                  <a:rtl/>
                </a:rPr>
                <a:t>פרופילי</a:t>
              </a: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en-US" sz="2549" b="1" dirty="0">
                  <a:latin typeface="Arial Bold"/>
                  <a:ea typeface="Arial Bold"/>
                  <a:cs typeface="Arial Bold"/>
                  <a:sym typeface="Arial Bold"/>
                </a:rPr>
                <a:t>X</a:t>
              </a: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 עם מטא-דאטה מלאה</a:t>
              </a:r>
            </a:p>
            <a:p>
              <a:pPr marL="461485" lvl="1" indent="-230742" algn="just" rtl="1">
                <a:lnSpc>
                  <a:spcPts val="3739"/>
                </a:lnSpc>
                <a:buFont typeface="Arial"/>
                <a:buChar char="•"/>
              </a:pPr>
              <a:r>
                <a:rPr lang="en-US" sz="2549" b="1" dirty="0">
                  <a:latin typeface="Arial Bold"/>
                  <a:ea typeface="Arial Bold"/>
                  <a:cs typeface="Arial Bold"/>
                  <a:sym typeface="Arial Bold"/>
                </a:rPr>
                <a:t>21,810</a:t>
              </a: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 ציוצים, </a:t>
              </a:r>
              <a:r>
                <a:rPr lang="en-US" sz="2549" b="1" dirty="0">
                  <a:latin typeface="Arial Bold"/>
                  <a:ea typeface="Arial Bold"/>
                  <a:cs typeface="Arial Bold"/>
                  <a:sym typeface="Arial Bold"/>
                </a:rPr>
                <a:t>238</a:t>
              </a: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he-IL" sz="2549" b="1" dirty="0" err="1">
                  <a:latin typeface="Arial Bold"/>
                  <a:ea typeface="Arial Bold"/>
                  <a:cs typeface="Arial Bold"/>
                  <a:sym typeface="Arial Bold"/>
                  <a:rtl/>
                </a:rPr>
                <a:t>יוזרים</a:t>
              </a: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, תרגום, סנטימנט ורגש</a:t>
              </a:r>
            </a:p>
            <a:p>
              <a:pPr marL="461485" lvl="1" indent="-230742" algn="just" rtl="1">
                <a:lnSpc>
                  <a:spcPts val="3739"/>
                </a:lnSpc>
                <a:buFont typeface="Arial"/>
                <a:buChar char="•"/>
              </a:pP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גרף קשרים חברתי, </a:t>
              </a:r>
              <a:r>
                <a:rPr lang="en-US" sz="2549" b="1" dirty="0">
                  <a:latin typeface="Arial Bold"/>
                  <a:ea typeface="Arial Bold"/>
                  <a:cs typeface="Arial Bold"/>
                  <a:sym typeface="Arial Bold"/>
                </a:rPr>
                <a:t>14,430</a:t>
              </a: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 קשרים</a:t>
              </a:r>
            </a:p>
            <a:p>
              <a:pPr marL="461485" lvl="1" indent="-230742" algn="just" rtl="1">
                <a:lnSpc>
                  <a:spcPts val="3739"/>
                </a:lnSpc>
                <a:buFont typeface="Arial"/>
                <a:buChar char="•"/>
              </a:pPr>
              <a:r>
                <a:rPr lang="he-IL" sz="2549" b="1" dirty="0" err="1">
                  <a:latin typeface="Arial Bold"/>
                  <a:ea typeface="Arial Bold"/>
                  <a:cs typeface="Arial Bold"/>
                  <a:sym typeface="Arial Bold"/>
                  <a:rtl/>
                </a:rPr>
                <a:t>הכל</a:t>
              </a: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 סופק מראש, ללא איסוף עצמאי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87552" y="2050256"/>
            <a:ext cx="7955280" cy="528088"/>
            <a:chOff x="0" y="-9525"/>
            <a:chExt cx="10607040" cy="70411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07040" cy="694592"/>
            </a:xfrm>
            <a:custGeom>
              <a:avLst/>
              <a:gdLst/>
              <a:ahLst/>
              <a:cxnLst/>
              <a:rect l="l" t="t" r="r" b="b"/>
              <a:pathLst>
                <a:path w="10607040" h="694592">
                  <a:moveTo>
                    <a:pt x="0" y="0"/>
                  </a:moveTo>
                  <a:lnTo>
                    <a:pt x="10607040" y="0"/>
                  </a:lnTo>
                  <a:lnTo>
                    <a:pt x="10607040" y="694592"/>
                  </a:lnTo>
                  <a:lnTo>
                    <a:pt x="0" y="694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8060" b="-23704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0607040" cy="70411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59"/>
                </a:lnSpc>
              </a:pPr>
              <a:r>
                <a:rPr lang="he-IL" sz="2549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תיוג ידני, איטרציה </a:t>
              </a:r>
              <a:r>
                <a:rPr lang="en-US" sz="2549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7552" y="2480310"/>
            <a:ext cx="7955280" cy="2663190"/>
            <a:chOff x="0" y="-76200"/>
            <a:chExt cx="10607040" cy="35509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07040" cy="3474720"/>
            </a:xfrm>
            <a:custGeom>
              <a:avLst/>
              <a:gdLst/>
              <a:ahLst/>
              <a:cxnLst/>
              <a:rect l="l" t="t" r="r" b="b"/>
              <a:pathLst>
                <a:path w="10607040" h="3474720">
                  <a:moveTo>
                    <a:pt x="0" y="0"/>
                  </a:moveTo>
                  <a:lnTo>
                    <a:pt x="10607040" y="0"/>
                  </a:lnTo>
                  <a:lnTo>
                    <a:pt x="1060704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480" b="-948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10607040" cy="355092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marL="461485" lvl="1" indent="-230742" algn="just" rtl="1">
                <a:lnSpc>
                  <a:spcPts val="3739"/>
                </a:lnSpc>
                <a:buFont typeface="Arial"/>
                <a:buChar char="•"/>
              </a:pPr>
              <a:r>
                <a:rPr lang="en-US" sz="2549" b="1" dirty="0">
                  <a:latin typeface="Arial Bold"/>
                  <a:ea typeface="Arial Bold"/>
                  <a:cs typeface="Arial Bold"/>
                  <a:sym typeface="Arial Bold"/>
                </a:rPr>
                <a:t>100</a:t>
              </a: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 משתמשים אקראיים, בדיקה ידנית ברשת </a:t>
              </a:r>
              <a:r>
                <a:rPr lang="en-US" sz="2549" b="1" dirty="0">
                  <a:latin typeface="Arial Bold"/>
                  <a:ea typeface="Arial Bold"/>
                  <a:cs typeface="Arial Bold"/>
                  <a:sym typeface="Arial Bold"/>
                </a:rPr>
                <a:t>X</a:t>
              </a:r>
            </a:p>
            <a:p>
              <a:pPr marL="461485" lvl="1" indent="-230742" algn="just" rtl="1">
                <a:lnSpc>
                  <a:spcPts val="3739"/>
                </a:lnSpc>
                <a:buFont typeface="Arial"/>
                <a:buChar char="•"/>
              </a:pP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דיוק מוחלט, בספק סומן </a:t>
              </a:r>
              <a:r>
                <a:rPr lang="en-US" sz="2549" b="1" dirty="0">
                  <a:latin typeface="Arial Bold"/>
                  <a:ea typeface="Arial Bold"/>
                  <a:cs typeface="Arial Bold"/>
                  <a:sym typeface="Arial Bold"/>
                </a:rPr>
                <a:t>unknown</a:t>
              </a:r>
            </a:p>
            <a:p>
              <a:pPr marL="461485" lvl="1" indent="-230742" algn="just" rtl="1">
                <a:lnSpc>
                  <a:spcPts val="3739"/>
                </a:lnSpc>
                <a:buFont typeface="Arial"/>
                <a:buChar char="•"/>
              </a:pP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תיוג כפול, כל משתמש נבדק ע"י שני מתייגים</a:t>
              </a:r>
            </a:p>
            <a:p>
              <a:pPr marL="461485" lvl="1" indent="-230742" algn="just" rtl="1">
                <a:lnSpc>
                  <a:spcPts val="3739"/>
                </a:lnSpc>
                <a:buFont typeface="Arial"/>
                <a:buChar char="•"/>
              </a:pPr>
              <a:r>
                <a:rPr lang="he-IL" sz="2549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הכרעה: זהה נחשב אוטומטי, פער עובר לדיון, תיקו למרצה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8027" y="5682615"/>
            <a:ext cx="16327373" cy="2145030"/>
            <a:chOff x="0" y="0"/>
            <a:chExt cx="21769831" cy="2860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69831" cy="2860040"/>
            </a:xfrm>
            <a:custGeom>
              <a:avLst/>
              <a:gdLst/>
              <a:ahLst/>
              <a:cxnLst/>
              <a:rect l="l" t="t" r="r" b="b"/>
              <a:pathLst>
                <a:path w="21769831" h="2860040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21659087" y="0"/>
                  </a:lnTo>
                  <a:cubicBezTo>
                    <a:pt x="21720175" y="0"/>
                    <a:pt x="21769831" y="49530"/>
                    <a:pt x="21769831" y="110744"/>
                  </a:cubicBezTo>
                  <a:lnTo>
                    <a:pt x="21769831" y="2749296"/>
                  </a:lnTo>
                  <a:cubicBezTo>
                    <a:pt x="21769831" y="2810383"/>
                    <a:pt x="21720302" y="2860040"/>
                    <a:pt x="21659087" y="2860040"/>
                  </a:cubicBezTo>
                  <a:lnTo>
                    <a:pt x="110744" y="2860040"/>
                  </a:lnTo>
                  <a:cubicBezTo>
                    <a:pt x="49530" y="2860040"/>
                    <a:pt x="0" y="2810510"/>
                    <a:pt x="0" y="2749296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algn="r" defTabSz="914400" rtl="1" eaLnBrk="1" latinLnBrk="0" hangingPunct="1"/>
              <a:endParaRPr dirty="0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99032" y="5911024"/>
            <a:ext cx="15499080" cy="425768"/>
            <a:chOff x="0" y="-19050"/>
            <a:chExt cx="20665440" cy="56769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665439" cy="548640"/>
            </a:xfrm>
            <a:custGeom>
              <a:avLst/>
              <a:gdLst/>
              <a:ahLst/>
              <a:cxnLst/>
              <a:rect l="l" t="t" r="r" b="b"/>
              <a:pathLst>
                <a:path w="20665439" h="548640">
                  <a:moveTo>
                    <a:pt x="0" y="0"/>
                  </a:moveTo>
                  <a:lnTo>
                    <a:pt x="20665439" y="0"/>
                  </a:lnTo>
                  <a:lnTo>
                    <a:pt x="206654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83936" b="-683936"/>
              </a:stretch>
            </a:blipFill>
            <a:ln/>
          </p:spPr>
          <p:txBody>
            <a:bodyPr/>
            <a:lstStyle/>
            <a:p>
              <a:pPr marL="0" algn="r" defTabSz="914400" rtl="1" eaLnBrk="1" latinLnBrk="0" hangingPunct="1"/>
              <a:endParaRPr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2066544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איכות התיוג, מדד </a:t>
              </a:r>
              <a:r>
                <a:rPr lang="en-US" sz="18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Cohen's Kappa</a:t>
              </a:r>
              <a:r>
                <a:rPr lang="he-IL" sz="18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שמתקן הסכמה מקרית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358116" y="6404800"/>
            <a:ext cx="4937760" cy="768668"/>
            <a:chOff x="0" y="-19050"/>
            <a:chExt cx="6583680" cy="10248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83680" cy="1005840"/>
            </a:xfrm>
            <a:custGeom>
              <a:avLst/>
              <a:gdLst/>
              <a:ahLst/>
              <a:cxnLst/>
              <a:rect l="l" t="t" r="r" b="b"/>
              <a:pathLst>
                <a:path w="6583680" h="1005840">
                  <a:moveTo>
                    <a:pt x="0" y="0"/>
                  </a:moveTo>
                  <a:lnTo>
                    <a:pt x="6583680" y="0"/>
                  </a:lnTo>
                  <a:lnTo>
                    <a:pt x="6583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7538" b="-7753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583680" cy="10248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κ = 0.88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358116" y="7118032"/>
            <a:ext cx="4937760" cy="425768"/>
            <a:chOff x="0" y="-19050"/>
            <a:chExt cx="6583680" cy="56769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583680" cy="548640"/>
            </a:xfrm>
            <a:custGeom>
              <a:avLst/>
              <a:gdLst/>
              <a:ahLst/>
              <a:cxnLst/>
              <a:rect l="l" t="t" r="r" b="b"/>
              <a:pathLst>
                <a:path w="6583680" h="54864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83820" b="-18382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658368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target_population</a:t>
              </a: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, יעד </a:t>
              </a:r>
              <a:r>
                <a:rPr lang="en-US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0.75</a:t>
              </a: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ומעלה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214616" y="6404800"/>
            <a:ext cx="4937760" cy="768668"/>
            <a:chOff x="0" y="-19050"/>
            <a:chExt cx="6583680" cy="102489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583680" cy="1005840"/>
            </a:xfrm>
            <a:custGeom>
              <a:avLst/>
              <a:gdLst/>
              <a:ahLst/>
              <a:cxnLst/>
              <a:rect l="l" t="t" r="r" b="b"/>
              <a:pathLst>
                <a:path w="6583680" h="1005840">
                  <a:moveTo>
                    <a:pt x="0" y="0"/>
                  </a:moveTo>
                  <a:lnTo>
                    <a:pt x="6583680" y="0"/>
                  </a:lnTo>
                  <a:lnTo>
                    <a:pt x="6583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7538" b="-7753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583680" cy="10248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κ = 1.00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214616" y="7118032"/>
            <a:ext cx="4937760" cy="425768"/>
            <a:chOff x="0" y="-19050"/>
            <a:chExt cx="6583680" cy="56769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583680" cy="548640"/>
            </a:xfrm>
            <a:custGeom>
              <a:avLst/>
              <a:gdLst/>
              <a:ahLst/>
              <a:cxnLst/>
              <a:rect l="l" t="t" r="r" b="b"/>
              <a:pathLst>
                <a:path w="6583680" h="54864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83820" b="-18382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658368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locals_vs_diaspora</a:t>
              </a: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, יעד </a:t>
              </a:r>
              <a:r>
                <a:rPr lang="en-US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0.60</a:t>
              </a: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ומעלה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071116" y="6404800"/>
            <a:ext cx="4937760" cy="768668"/>
            <a:chOff x="0" y="-19050"/>
            <a:chExt cx="6583680" cy="102489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583680" cy="1005840"/>
            </a:xfrm>
            <a:custGeom>
              <a:avLst/>
              <a:gdLst/>
              <a:ahLst/>
              <a:cxnLst/>
              <a:rect l="l" t="t" r="r" b="b"/>
              <a:pathLst>
                <a:path w="6583680" h="1005840">
                  <a:moveTo>
                    <a:pt x="0" y="0"/>
                  </a:moveTo>
                  <a:lnTo>
                    <a:pt x="6583680" y="0"/>
                  </a:lnTo>
                  <a:lnTo>
                    <a:pt x="6583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7538" b="-7753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583680" cy="10248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040"/>
                </a:lnSpc>
              </a:pPr>
              <a:r>
                <a:rPr lang="en-US" sz="42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κ = 0.94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071116" y="7118032"/>
            <a:ext cx="4937760" cy="425768"/>
            <a:chOff x="0" y="-19050"/>
            <a:chExt cx="6583680" cy="56769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83680" cy="548640"/>
            </a:xfrm>
            <a:custGeom>
              <a:avLst/>
              <a:gdLst/>
              <a:ahLst/>
              <a:cxnLst/>
              <a:rect l="l" t="t" r="r" b="b"/>
              <a:pathLst>
                <a:path w="6583680" h="54864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83820" b="-18382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58368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person_vs_organization</a:t>
              </a: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, יעד </a:t>
              </a:r>
              <a:r>
                <a:rPr lang="en-US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0.60</a:t>
              </a:r>
              <a:r>
                <a:rPr lang="he-IL" sz="18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ומעלה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bg-2-cont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47"/>
            <a:ext cx="18288000" cy="102870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4200" b="0" i="0">
                <a:solidFill>
                  <a:srgbClr val="000000"/>
                </a:solidFill>
                <a:latin typeface="Suez One"/>
                <a:cs typeface="Suez One"/>
              </a:rPr>
              <a:t>שלושה תרשימי החלטה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435840" y="1783080"/>
            <a:ext cx="585216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2331720"/>
            <a:ext cx="16459200" cy="144655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הפכנו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את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התיוג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הידני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ללוגיקה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מפורשת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: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לכל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אחת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משלוש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משימות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הסיווג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בנינו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תרשים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כן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/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לא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.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הם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גם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מפת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הדרכים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להפקת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33415C"/>
                </a:solidFill>
                <a:latin typeface="Arial"/>
                <a:cs typeface="Arial"/>
              </a:rPr>
              <a:t>הפיצ'רים</a:t>
            </a:r>
            <a:r>
              <a:rPr sz="2800" b="1" i="0" dirty="0">
                <a:solidFill>
                  <a:srgbClr val="33415C"/>
                </a:solidFill>
                <a:latin typeface="Arial"/>
                <a:cs typeface="Arial"/>
              </a:rPr>
              <a:t>.</a:t>
            </a:r>
          </a:p>
          <a:p>
            <a:pPr algn="r" rtl="1">
              <a:spcAft>
                <a:spcPts val="600"/>
              </a:spcAft>
            </a:pPr>
            <a:r>
              <a:rPr sz="2800" b="1" i="0" dirty="0" err="1">
                <a:solidFill>
                  <a:srgbClr val="6B7280"/>
                </a:solidFill>
                <a:latin typeface="Arial"/>
                <a:cs typeface="Arial"/>
              </a:rPr>
              <a:t>בשלושת</a:t>
            </a:r>
            <a:r>
              <a:rPr sz="2800" b="1" i="0" dirty="0">
                <a:solidFill>
                  <a:srgbClr val="6B7280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6B7280"/>
                </a:solidFill>
                <a:latin typeface="Arial"/>
                <a:cs typeface="Arial"/>
              </a:rPr>
              <a:t>השקפים</a:t>
            </a:r>
            <a:r>
              <a:rPr sz="2800" b="1" i="0" dirty="0">
                <a:solidFill>
                  <a:srgbClr val="6B7280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6B7280"/>
                </a:solidFill>
                <a:latin typeface="Arial"/>
                <a:cs typeface="Arial"/>
              </a:rPr>
              <a:t>הבאים</a:t>
            </a:r>
            <a:r>
              <a:rPr sz="2800" b="1" i="0" dirty="0">
                <a:solidFill>
                  <a:srgbClr val="6B7280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6B7280"/>
                </a:solidFill>
                <a:latin typeface="Arial"/>
                <a:cs typeface="Arial"/>
              </a:rPr>
              <a:t>נעבור</a:t>
            </a:r>
            <a:r>
              <a:rPr sz="2800" b="1" i="0" dirty="0">
                <a:solidFill>
                  <a:srgbClr val="6B7280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6B7280"/>
                </a:solidFill>
                <a:latin typeface="Arial"/>
                <a:cs typeface="Arial"/>
              </a:rPr>
              <a:t>על</a:t>
            </a:r>
            <a:r>
              <a:rPr sz="2800" b="1" i="0" dirty="0">
                <a:solidFill>
                  <a:srgbClr val="6B7280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6B7280"/>
                </a:solidFill>
                <a:latin typeface="Arial"/>
                <a:cs typeface="Arial"/>
              </a:rPr>
              <a:t>כל</a:t>
            </a:r>
            <a:r>
              <a:rPr sz="2800" b="1" i="0" dirty="0">
                <a:solidFill>
                  <a:srgbClr val="6B7280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6B7280"/>
                </a:solidFill>
                <a:latin typeface="Arial"/>
                <a:cs typeface="Arial"/>
              </a:rPr>
              <a:t>תרשים</a:t>
            </a:r>
            <a:r>
              <a:rPr sz="2800" b="1" i="0" dirty="0">
                <a:solidFill>
                  <a:srgbClr val="6B7280"/>
                </a:solidFill>
                <a:latin typeface="Arial"/>
                <a:cs typeface="Arial"/>
              </a:rPr>
              <a:t> </a:t>
            </a:r>
            <a:r>
              <a:rPr sz="2800" b="1" i="0" dirty="0" err="1">
                <a:solidFill>
                  <a:srgbClr val="6B7280"/>
                </a:solidFill>
                <a:latin typeface="Arial"/>
                <a:cs typeface="Arial"/>
              </a:rPr>
              <a:t>בנפרד</a:t>
            </a:r>
            <a:r>
              <a:rPr sz="2800" b="1" i="0" dirty="0">
                <a:solidFill>
                  <a:srgbClr val="6B728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161520" y="4983480"/>
            <a:ext cx="5212080" cy="2286000"/>
          </a:xfrm>
          <a:prstGeom prst="rect">
            <a:avLst/>
          </a:prstGeom>
          <a:solidFill>
            <a:srgbClr val="F4F6FA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2161520" y="4983480"/>
            <a:ext cx="5212080" cy="1280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390120" y="5756701"/>
            <a:ext cx="4754880" cy="830997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 i="0" dirty="0" err="1">
                <a:solidFill>
                  <a:srgbClr val="C8102E"/>
                </a:solidFill>
                <a:latin typeface="Arial"/>
                <a:cs typeface="Arial"/>
              </a:rPr>
              <a:t>target_population</a:t>
            </a:r>
            <a:endParaRPr sz="2800" b="1" i="0" dirty="0">
              <a:solidFill>
                <a:srgbClr val="C8102E"/>
              </a:solidFill>
              <a:latin typeface="Arial"/>
              <a:cs typeface="Arial"/>
            </a:endParaRPr>
          </a:p>
          <a:p>
            <a:pPr algn="ctr" rtl="1">
              <a:spcAft>
                <a:spcPts val="600"/>
              </a:spcAft>
            </a:pP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האם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הביו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,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השם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או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המיקום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מזכירים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איראן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4983480"/>
            <a:ext cx="5212080" cy="2286000"/>
          </a:xfrm>
          <a:prstGeom prst="rect">
            <a:avLst/>
          </a:prstGeom>
          <a:solidFill>
            <a:srgbClr val="F4F6FA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46520" y="4983480"/>
            <a:ext cx="5212080" cy="1280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0" y="5756702"/>
            <a:ext cx="4754880" cy="830997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 i="0" dirty="0" err="1">
                <a:solidFill>
                  <a:srgbClr val="C8102E"/>
                </a:solidFill>
                <a:latin typeface="Arial"/>
                <a:cs typeface="Arial"/>
              </a:rPr>
              <a:t>locals_vs_diaspora</a:t>
            </a:r>
            <a:endParaRPr sz="2800" b="1" i="0" dirty="0">
              <a:solidFill>
                <a:srgbClr val="C8102E"/>
              </a:solidFill>
              <a:latin typeface="Arial"/>
              <a:cs typeface="Arial"/>
            </a:endParaRPr>
          </a:p>
          <a:p>
            <a:pPr algn="ctr" rtl="1">
              <a:spcAft>
                <a:spcPts val="600"/>
              </a:spcAft>
            </a:pP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האם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המיקום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מצביע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על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איראן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983480"/>
            <a:ext cx="5212080" cy="2286000"/>
          </a:xfrm>
          <a:prstGeom prst="rect">
            <a:avLst/>
          </a:prstGeom>
          <a:solidFill>
            <a:srgbClr val="F4F6FA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1520" y="4983480"/>
            <a:ext cx="5212080" cy="1280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" y="5756702"/>
            <a:ext cx="4754880" cy="830997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 i="0" dirty="0" err="1">
                <a:solidFill>
                  <a:srgbClr val="C8102E"/>
                </a:solidFill>
                <a:latin typeface="Arial"/>
                <a:cs typeface="Arial"/>
              </a:rPr>
              <a:t>person_vs_organization</a:t>
            </a:r>
            <a:endParaRPr sz="2800" b="1" i="0" dirty="0">
              <a:solidFill>
                <a:srgbClr val="C8102E"/>
              </a:solidFill>
              <a:latin typeface="Arial"/>
              <a:cs typeface="Arial"/>
            </a:endParaRPr>
          </a:p>
          <a:p>
            <a:pPr algn="ctr" rtl="1">
              <a:spcAft>
                <a:spcPts val="600"/>
              </a:spcAft>
            </a:pP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חשבון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של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אדם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,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או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של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גוף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33415C"/>
                </a:solidFill>
                <a:latin typeface="Arial"/>
                <a:cs typeface="Arial"/>
              </a:rPr>
              <a:t>מוסדי</a:t>
            </a:r>
            <a:r>
              <a:rPr sz="1600" b="1" i="0" dirty="0">
                <a:solidFill>
                  <a:srgbClr val="33415C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9875520"/>
            <a:ext cx="9144000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rial"/>
                <a:cs typeface="Arial"/>
              </a:rPr>
              <a:t>Iran_POI  ·  שלב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4200" b="0" i="0">
                <a:solidFill>
                  <a:srgbClr val="000000"/>
                </a:solidFill>
                <a:latin typeface="Suez One"/>
                <a:cs typeface="Suez One"/>
              </a:rPr>
              <a:t>שייכות לאוכלוסיית היעד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35840" y="1783080"/>
            <a:ext cx="585216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64592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Arial"/>
                <a:cs typeface="Arial"/>
              </a:rPr>
              <a:t>target_population</a:t>
            </a:r>
          </a:p>
        </p:txBody>
      </p:sp>
      <p:pic>
        <p:nvPicPr>
          <p:cNvPr id="6" name="Picture 5" descr="flowchart_1_target_pop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589" y="2880360"/>
            <a:ext cx="13574822" cy="5715000"/>
          </a:xfrm>
          <a:prstGeom prst="rect">
            <a:avLst/>
          </a:prstGeom>
          <a:ln w="9525">
            <a:solidFill>
              <a:srgbClr val="D0D6D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828800" y="8732520"/>
            <a:ext cx="1463040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0" i="0">
                <a:solidFill>
                  <a:srgbClr val="33415C"/>
                </a:solidFill>
                <a:latin typeface="Arial"/>
                <a:cs typeface="Arial"/>
              </a:rPr>
              <a:t>ביו, שם או מיקום שמזכירים איראן מובילים ל-Target. פרופיל מושהה או ריק נשאר Unknown.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875520"/>
            <a:ext cx="9144000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rial"/>
                <a:cs typeface="Arial"/>
              </a:rPr>
              <a:t>Iran_POI  ·  שלב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4200" b="0" i="0">
                <a:solidFill>
                  <a:srgbClr val="000000"/>
                </a:solidFill>
                <a:latin typeface="Suez One"/>
                <a:cs typeface="Suez One"/>
              </a:rPr>
              <a:t>מקומי מול תפוצות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35840" y="1783080"/>
            <a:ext cx="585216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64592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Arial"/>
                <a:cs typeface="Arial"/>
              </a:rPr>
              <a:t>locals_vs_diaspora</a:t>
            </a:r>
          </a:p>
        </p:txBody>
      </p:sp>
      <p:pic>
        <p:nvPicPr>
          <p:cNvPr id="6" name="Picture 5" descr="flowchart_2_locals_vs_diasp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892" y="2880360"/>
            <a:ext cx="14902216" cy="5715000"/>
          </a:xfrm>
          <a:prstGeom prst="rect">
            <a:avLst/>
          </a:prstGeom>
          <a:ln w="9525">
            <a:solidFill>
              <a:srgbClr val="D0D6D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828800" y="8732520"/>
            <a:ext cx="1463040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0" i="0">
                <a:solidFill>
                  <a:srgbClr val="33415C"/>
                </a:solidFill>
                <a:latin typeface="Arial"/>
                <a:cs typeface="Arial"/>
              </a:rPr>
              <a:t>המיקום מכריע; בהיעדרו, רמזים בביו ובציוצים האחרונים קובעים.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875520"/>
            <a:ext cx="9144000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rial"/>
                <a:cs typeface="Arial"/>
              </a:rPr>
              <a:t>Iran_POI  ·  שלב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4200" b="0" i="0">
                <a:solidFill>
                  <a:srgbClr val="000000"/>
                </a:solidFill>
                <a:latin typeface="Suez One"/>
                <a:cs typeface="Suez One"/>
              </a:rPr>
              <a:t>אדם מול ארגון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35840" y="1783080"/>
            <a:ext cx="585216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64592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Arial"/>
                <a:cs typeface="Arial"/>
              </a:rPr>
              <a:t>person_vs_organization</a:t>
            </a:r>
          </a:p>
        </p:txBody>
      </p:sp>
      <p:pic>
        <p:nvPicPr>
          <p:cNvPr id="6" name="Picture 5" descr="flowchart_3_person_vs_organ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458" y="2880360"/>
            <a:ext cx="14635083" cy="5715000"/>
          </a:xfrm>
          <a:prstGeom prst="rect">
            <a:avLst/>
          </a:prstGeom>
          <a:ln w="9525">
            <a:solidFill>
              <a:srgbClr val="D0D6D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828800" y="8732520"/>
            <a:ext cx="1463040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0" i="0">
                <a:solidFill>
                  <a:srgbClr val="33415C"/>
                </a:solidFill>
                <a:latin typeface="Arial"/>
                <a:cs typeface="Arial"/>
              </a:rPr>
              <a:t>שם או ביו מוסדי, לוגו כתמונה וקול בלשון רבים מובילים ל-Organization.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875520"/>
            <a:ext cx="9144000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rial"/>
                <a:cs typeface="Arial"/>
              </a:rPr>
              <a:t>Iran_POI  ·  שלב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47" name="Picture 46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86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744432" cy="4579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marL="0" algn="l" defTabSz="914400" rtl="0" eaLnBrk="1" latinLnBrk="0" hangingPunct="1">
                <a:lnSpc>
                  <a:spcPts val="2160"/>
                </a:lnSpc>
              </a:pPr>
              <a:endParaRPr lang="en-US" sz="1800" b="1" spc="149" dirty="0">
                <a:solidFill>
                  <a:srgbClr val="C8102E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1000887"/>
            <a:chOff x="0" y="0"/>
            <a:chExt cx="21744432" cy="13345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1334516"/>
            </a:xfrm>
            <a:custGeom>
              <a:avLst/>
              <a:gdLst/>
              <a:ahLst/>
              <a:cxnLst/>
              <a:rect l="l" t="t" r="r" b="b"/>
              <a:pathLst>
                <a:path w="21744432" h="1334516">
                  <a:moveTo>
                    <a:pt x="0" y="0"/>
                  </a:moveTo>
                  <a:lnTo>
                    <a:pt x="21744432" y="0"/>
                  </a:lnTo>
                  <a:lnTo>
                    <a:pt x="21744432" y="1334516"/>
                  </a:lnTo>
                  <a:lnTo>
                    <a:pt x="0" y="13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83227" b="-251746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1334516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799"/>
                </a:lnSpc>
              </a:pPr>
              <a:r>
                <a:rPr lang="en-US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</a:rPr>
                <a:t>1,296</a:t>
              </a:r>
              <a:r>
                <a:rPr lang="he-IL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 ניסויים בכל איטרציה, כל צירוף של אלגוריתם, פיצ'רים וולידציה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07240" y="2043112"/>
            <a:ext cx="5074920" cy="425768"/>
            <a:chOff x="0" y="-19050"/>
            <a:chExt cx="6766560" cy="5676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66560" cy="548640"/>
            </a:xfrm>
            <a:custGeom>
              <a:avLst/>
              <a:gdLst/>
              <a:ahLst/>
              <a:cxnLst/>
              <a:rect l="l" t="t" r="r" b="b"/>
              <a:pathLst>
                <a:path w="6766560" h="54864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0315" b="-1903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676656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he-IL" sz="2800" b="1" dirty="0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פיצ'רים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07240" y="2473166"/>
            <a:ext cx="5074920" cy="2944654"/>
            <a:chOff x="0" y="-85725"/>
            <a:chExt cx="6766560" cy="392620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66560" cy="3840480"/>
            </a:xfrm>
            <a:custGeom>
              <a:avLst/>
              <a:gdLst/>
              <a:ahLst/>
              <a:cxnLst/>
              <a:rect l="l" t="t" r="r" b="b"/>
              <a:pathLst>
                <a:path w="6766560" h="3840480">
                  <a:moveTo>
                    <a:pt x="0" y="0"/>
                  </a:moveTo>
                  <a:lnTo>
                    <a:pt x="6766560" y="0"/>
                  </a:lnTo>
                  <a:lnTo>
                    <a:pt x="676656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820" r="-2282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6766560" cy="392620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marL="380048" lvl="1" indent="-190024" algn="r" rtl="1">
                <a:lnSpc>
                  <a:spcPts val="330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TF-IDF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של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description, username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ו-</a:t>
              </a:r>
              <a:r>
                <a:rPr lang="en-US" sz="2100" b="1" dirty="0" err="1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full_name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בכל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השילובים</a:t>
              </a:r>
            </a:p>
            <a:p>
              <a:pPr marL="380048" lvl="1" indent="-190024" algn="r" rtl="1">
                <a:lnSpc>
                  <a:spcPts val="3300"/>
                </a:lnSpc>
                <a:buFont typeface="Arial"/>
                <a:buChar char="•"/>
              </a:pP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נומריים: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followers, following, statuses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, יחס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F/F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, אורך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bio</a:t>
              </a:r>
            </a:p>
            <a:p>
              <a:pPr marL="380048" lvl="1" indent="-190024" algn="r" rtl="1">
                <a:lnSpc>
                  <a:spcPts val="3300"/>
                </a:lnSpc>
                <a:buFont typeface="Arial"/>
                <a:buChar char="•"/>
              </a:pP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תרגום לאנגלית לפני ההמרה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20840" y="2043112"/>
            <a:ext cx="5074920" cy="425768"/>
            <a:chOff x="0" y="-19050"/>
            <a:chExt cx="6766560" cy="5676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766560" cy="548640"/>
            </a:xfrm>
            <a:custGeom>
              <a:avLst/>
              <a:gdLst/>
              <a:ahLst/>
              <a:cxnLst/>
              <a:rect l="l" t="t" r="r" b="b"/>
              <a:pathLst>
                <a:path w="6766560" h="54864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0315" b="-1903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676656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he-IL" sz="2800" b="1" dirty="0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אלגוריתמים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20840" y="2473166"/>
            <a:ext cx="5074920" cy="2944654"/>
            <a:chOff x="0" y="-85725"/>
            <a:chExt cx="6766560" cy="392620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66560" cy="3840480"/>
            </a:xfrm>
            <a:custGeom>
              <a:avLst/>
              <a:gdLst/>
              <a:ahLst/>
              <a:cxnLst/>
              <a:rect l="l" t="t" r="r" b="b"/>
              <a:pathLst>
                <a:path w="6766560" h="3840480">
                  <a:moveTo>
                    <a:pt x="0" y="0"/>
                  </a:moveTo>
                  <a:lnTo>
                    <a:pt x="6766560" y="0"/>
                  </a:lnTo>
                  <a:lnTo>
                    <a:pt x="676656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820" r="-2282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6766560" cy="392620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marL="380048" lvl="1" indent="-190024" algn="just" rtl="1">
                <a:lnSpc>
                  <a:spcPts val="330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Logistic Regression, Decision Tree</a:t>
              </a:r>
            </a:p>
            <a:p>
              <a:pPr marL="380048" lvl="1" indent="-190024" algn="just" rtl="1">
                <a:lnSpc>
                  <a:spcPts val="330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Random Forest, SVM</a:t>
              </a:r>
            </a:p>
            <a:p>
              <a:pPr marL="380048" lvl="1" indent="-190024" algn="just" rtl="1">
                <a:lnSpc>
                  <a:spcPts val="3300"/>
                </a:lnSpc>
                <a:buFont typeface="Arial"/>
                <a:buChar char="•"/>
              </a:pPr>
              <a:r>
                <a:rPr lang="en-US" sz="2100" b="1" dirty="0" err="1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XGBoost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, AdaBoost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7552" y="2043112"/>
            <a:ext cx="5349240" cy="425768"/>
            <a:chOff x="0" y="-19050"/>
            <a:chExt cx="7132320" cy="56769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32320" cy="548640"/>
            </a:xfrm>
            <a:custGeom>
              <a:avLst/>
              <a:gdLst/>
              <a:ahLst/>
              <a:cxnLst/>
              <a:rect l="l" t="t" r="r" b="b"/>
              <a:pathLst>
                <a:path w="7132320" h="54864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3305" b="-203305"/>
              </a:stretch>
            </a:blipFill>
            <a:ln/>
          </p:spPr>
          <p:txBody>
            <a:bodyPr/>
            <a:lstStyle/>
            <a:p>
              <a:endParaRPr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713232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he-IL" sz="2800" b="1" dirty="0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בקרה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87552" y="2473166"/>
            <a:ext cx="5349240" cy="2944654"/>
            <a:chOff x="0" y="-85725"/>
            <a:chExt cx="7132320" cy="392620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32320" cy="3840480"/>
            </a:xfrm>
            <a:custGeom>
              <a:avLst/>
              <a:gdLst/>
              <a:ahLst/>
              <a:cxnLst/>
              <a:rect l="l" t="t" r="r" b="b"/>
              <a:pathLst>
                <a:path w="7132320" h="3840480">
                  <a:moveTo>
                    <a:pt x="0" y="0"/>
                  </a:moveTo>
                  <a:lnTo>
                    <a:pt x="7132320" y="0"/>
                  </a:lnTo>
                  <a:lnTo>
                    <a:pt x="713232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086" r="-19086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7132320" cy="392620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marL="453390" lvl="1" indent="-226695" algn="just" rtl="1">
                <a:lnSpc>
                  <a:spcPts val="330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K-Fold (K=5)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וגם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LOOCV</a:t>
              </a:r>
            </a:p>
            <a:p>
              <a:pPr marL="453390" lvl="1" indent="-226695" algn="just" rtl="1">
                <a:lnSpc>
                  <a:spcPts val="330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balanced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וגם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unbalanced</a:t>
              </a:r>
            </a:p>
            <a:p>
              <a:pPr marL="453390" lvl="1" indent="-226695" algn="just" rtl="1">
                <a:lnSpc>
                  <a:spcPts val="330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מחלקות וגם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מחלקות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104406" y="5533259"/>
            <a:ext cx="4937760" cy="1265113"/>
            <a:chOff x="0" y="-28575"/>
            <a:chExt cx="6583680" cy="168681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583680" cy="1658243"/>
            </a:xfrm>
            <a:custGeom>
              <a:avLst/>
              <a:gdLst/>
              <a:ahLst/>
              <a:cxnLst/>
              <a:rect l="l" t="t" r="r" b="b"/>
              <a:pathLst>
                <a:path w="6583680" h="1658243">
                  <a:moveTo>
                    <a:pt x="0" y="0"/>
                  </a:moveTo>
                  <a:lnTo>
                    <a:pt x="6583680" y="0"/>
                  </a:lnTo>
                  <a:lnTo>
                    <a:pt x="6583680" y="1658243"/>
                  </a:lnTo>
                  <a:lnTo>
                    <a:pt x="0" y="16582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275" b="-10446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6583680" cy="1686818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720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91746" y="7084122"/>
            <a:ext cx="12416037" cy="1373890"/>
            <a:chOff x="0" y="0"/>
            <a:chExt cx="10742629" cy="11887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742629" cy="1188720"/>
            </a:xfrm>
            <a:custGeom>
              <a:avLst/>
              <a:gdLst/>
              <a:ahLst/>
              <a:cxnLst/>
              <a:rect l="l" t="t" r="r" b="b"/>
              <a:pathLst>
                <a:path w="10742629" h="1188720">
                  <a:moveTo>
                    <a:pt x="0" y="0"/>
                  </a:moveTo>
                  <a:lnTo>
                    <a:pt x="10742629" y="0"/>
                  </a:lnTo>
                  <a:lnTo>
                    <a:pt x="10742629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25312B">
                <a:alpha val="0"/>
              </a:srgbClr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82572" y="463157"/>
              <a:ext cx="9160056" cy="7255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118"/>
                </a:lnSpc>
              </a:pPr>
              <a:endParaRPr dirty="0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35140" y="5689282"/>
            <a:ext cx="10424160" cy="425768"/>
            <a:chOff x="0" y="-19050"/>
            <a:chExt cx="13898880" cy="56769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898880" cy="548640"/>
            </a:xfrm>
            <a:custGeom>
              <a:avLst/>
              <a:gdLst/>
              <a:ahLst/>
              <a:cxnLst/>
              <a:rect l="l" t="t" r="r" b="b"/>
              <a:pathLst>
                <a:path w="13898880" h="548640">
                  <a:moveTo>
                    <a:pt x="0" y="0"/>
                  </a:moveTo>
                  <a:lnTo>
                    <a:pt x="13898880" y="0"/>
                  </a:lnTo>
                  <a:lnTo>
                    <a:pt x="13898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3620" b="-44362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1389888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he-IL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מאפיינים רגשיים (</a:t>
              </a:r>
              <a:r>
                <a:rPr lang="en-US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sentiment</a:t>
              </a:r>
              <a:r>
                <a:rPr lang="he-IL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ו-</a:t>
              </a:r>
              <a:r>
                <a:rPr lang="en-US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emotion</a:t>
              </a:r>
              <a:r>
                <a:rPr lang="he-IL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), נבחנו במודע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35140" y="6140767"/>
            <a:ext cx="10424160" cy="1277303"/>
            <a:chOff x="0" y="-57150"/>
            <a:chExt cx="13898880" cy="170307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3898880" cy="1645920"/>
            </a:xfrm>
            <a:custGeom>
              <a:avLst/>
              <a:gdLst/>
              <a:ahLst/>
              <a:cxnLst/>
              <a:rect l="l" t="t" r="r" b="b"/>
              <a:pathLst>
                <a:path w="13898880" h="1645920">
                  <a:moveTo>
                    <a:pt x="0" y="0"/>
                  </a:moveTo>
                  <a:lnTo>
                    <a:pt x="13898880" y="0"/>
                  </a:lnTo>
                  <a:lnTo>
                    <a:pt x="13898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4540" b="-11454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13898880" cy="170307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00"/>
                </a:lnSpc>
              </a:pP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כיסוי מוגבל </a:t>
              </a:r>
              <a:r>
                <a:rPr lang="he-IL" sz="2100" b="1" dirty="0" err="1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לכ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-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</a:t>
              </a:r>
              <a:r>
                <a:rPr lang="he-IL" sz="2100" b="1" dirty="0" err="1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מהיוזרים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(רק בעלי ציוצים שנאספו), ולכן לא נכללו במודל הסופי ושולבו באפיון האשכולות. טקסט הציוצים כן נכנס, דרך הלקסיקון האיראני בשלב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lang="ar-EG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+.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55" name="Picture 54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744432" cy="4579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endParaRPr lang="en-US" sz="1800" b="1" spc="149" dirty="0">
                <a:solidFill>
                  <a:srgbClr val="C8102E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42112"/>
            <a:chOff x="0" y="0"/>
            <a:chExt cx="21744432" cy="989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989482"/>
            </a:xfrm>
            <a:custGeom>
              <a:avLst/>
              <a:gdLst/>
              <a:ahLst/>
              <a:cxnLst/>
              <a:rect l="l" t="t" r="r" b="b"/>
              <a:pathLst>
                <a:path w="21744432" h="989482">
                  <a:moveTo>
                    <a:pt x="0" y="0"/>
                  </a:moveTo>
                  <a:lnTo>
                    <a:pt x="21744432" y="0"/>
                  </a:lnTo>
                  <a:lnTo>
                    <a:pt x="21744432" y="989482"/>
                  </a:lnTo>
                  <a:lnTo>
                    <a:pt x="0" y="9894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81988" b="-37440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98948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680"/>
                </a:lnSpc>
              </a:pPr>
              <a:r>
                <a:rPr lang="he-IL" sz="390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מתייגים רק את מה שהמודל לא יודע, ועוצרים כשזה מפסיק לעזור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18236" y="2118836"/>
            <a:ext cx="3977640" cy="446056"/>
            <a:chOff x="0" y="-9525"/>
            <a:chExt cx="5303520" cy="5947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03520" cy="585216"/>
            </a:xfrm>
            <a:custGeom>
              <a:avLst/>
              <a:gdLst/>
              <a:ahLst/>
              <a:cxnLst/>
              <a:rect l="l" t="t" r="r" b="b"/>
              <a:pathLst>
                <a:path w="5303520" h="585216">
                  <a:moveTo>
                    <a:pt x="0" y="0"/>
                  </a:moveTo>
                  <a:lnTo>
                    <a:pt x="5303520" y="0"/>
                  </a:lnTo>
                  <a:lnTo>
                    <a:pt x="530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6583" b="-12658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5303520" cy="59474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שלב </a:t>
              </a:r>
              <a:r>
                <a:rPr lang="en-US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-  למידה אקטיבית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7552" y="2097405"/>
            <a:ext cx="12001500" cy="988695"/>
            <a:chOff x="0" y="-38100"/>
            <a:chExt cx="16002000" cy="13182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002000" cy="1280160"/>
            </a:xfrm>
            <a:custGeom>
              <a:avLst/>
              <a:gdLst/>
              <a:ahLst/>
              <a:cxnLst/>
              <a:rect l="l" t="t" r="r" b="b"/>
              <a:pathLst>
                <a:path w="16002000" h="1280160">
                  <a:moveTo>
                    <a:pt x="0" y="0"/>
                  </a:moveTo>
                  <a:lnTo>
                    <a:pt x="16002000" y="0"/>
                  </a:lnTo>
                  <a:lnTo>
                    <a:pt x="16002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3562" b="-19356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6002000" cy="131826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בכל </a:t>
              </a:r>
              <a:r>
                <a:rPr lang="he-IL" sz="2100" b="1" dirty="0" err="1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איטרציה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: הסתברויות לכל הלא-מתויגים, מיון לפי אי-ודאות, תיוג ידני של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הכי לא-ודאיים, אימון מחדש. שבע פעמים.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8027" y="3158871"/>
            <a:ext cx="16327374" cy="19050"/>
            <a:chOff x="0" y="0"/>
            <a:chExt cx="21769832" cy="25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769832" cy="25400"/>
            </a:xfrm>
            <a:custGeom>
              <a:avLst/>
              <a:gdLst/>
              <a:ahLst/>
              <a:cxnLst/>
              <a:rect l="l" t="t" r="r" b="b"/>
              <a:pathLst>
                <a:path w="21769832" h="25400">
                  <a:moveTo>
                    <a:pt x="0" y="0"/>
                  </a:moveTo>
                  <a:lnTo>
                    <a:pt x="21769832" y="2540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6650236" b="-16650236"/>
              </a:stretch>
            </a:blip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318236" y="3298412"/>
            <a:ext cx="3977640" cy="446056"/>
            <a:chOff x="0" y="-9525"/>
            <a:chExt cx="5303520" cy="59474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03520" cy="585216"/>
            </a:xfrm>
            <a:custGeom>
              <a:avLst/>
              <a:gdLst/>
              <a:ahLst/>
              <a:cxnLst/>
              <a:rect l="l" t="t" r="r" b="b"/>
              <a:pathLst>
                <a:path w="5303520" h="585216">
                  <a:moveTo>
                    <a:pt x="0" y="0"/>
                  </a:moveTo>
                  <a:lnTo>
                    <a:pt x="5303520" y="0"/>
                  </a:lnTo>
                  <a:lnTo>
                    <a:pt x="530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6583" b="-12658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5303520" cy="59474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שלב </a:t>
              </a:r>
              <a:r>
                <a:rPr lang="en-US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-  קריטריון עצירה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87552" y="3276981"/>
            <a:ext cx="12001500" cy="988695"/>
            <a:chOff x="0" y="-38100"/>
            <a:chExt cx="16002000" cy="13182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002000" cy="1280160"/>
            </a:xfrm>
            <a:custGeom>
              <a:avLst/>
              <a:gdLst/>
              <a:ahLst/>
              <a:cxnLst/>
              <a:rect l="l" t="t" r="r" b="b"/>
              <a:pathLst>
                <a:path w="16002000" h="1280160">
                  <a:moveTo>
                    <a:pt x="0" y="0"/>
                  </a:moveTo>
                  <a:lnTo>
                    <a:pt x="16002000" y="0"/>
                  </a:lnTo>
                  <a:lnTo>
                    <a:pt x="16002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3562" b="-19356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6002000" cy="131826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 dirty="0" err="1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היסטוגרמת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ביטחון ודגימת שתי רצועות, [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0.45,0.55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] ו-[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0.85,0.95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]. עצירה כשהשיפור קטן מ-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0.5%</a:t>
              </a:r>
              <a:r>
                <a:rPr lang="ar-EG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8027" y="4338447"/>
            <a:ext cx="16327374" cy="19050"/>
            <a:chOff x="0" y="0"/>
            <a:chExt cx="21769832" cy="25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769832" cy="25400"/>
            </a:xfrm>
            <a:custGeom>
              <a:avLst/>
              <a:gdLst/>
              <a:ahLst/>
              <a:cxnLst/>
              <a:rect l="l" t="t" r="r" b="b"/>
              <a:pathLst>
                <a:path w="21769832" h="25400">
                  <a:moveTo>
                    <a:pt x="0" y="0"/>
                  </a:moveTo>
                  <a:lnTo>
                    <a:pt x="21769832" y="2540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6650236" b="-16650236"/>
              </a:stretch>
            </a:blip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18236" y="4477988"/>
            <a:ext cx="3977640" cy="446056"/>
            <a:chOff x="0" y="-9525"/>
            <a:chExt cx="5303520" cy="59474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03520" cy="585216"/>
            </a:xfrm>
            <a:custGeom>
              <a:avLst/>
              <a:gdLst/>
              <a:ahLst/>
              <a:cxnLst/>
              <a:rect l="l" t="t" r="r" b="b"/>
              <a:pathLst>
                <a:path w="5303520" h="585216">
                  <a:moveTo>
                    <a:pt x="0" y="0"/>
                  </a:moveTo>
                  <a:lnTo>
                    <a:pt x="5303520" y="0"/>
                  </a:lnTo>
                  <a:lnTo>
                    <a:pt x="530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6583" b="-12658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303520" cy="59474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שלב </a:t>
              </a:r>
              <a:r>
                <a:rPr lang="en-US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</a:t>
              </a:r>
              <a:r>
                <a:rPr lang="ar-EG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-</a:t>
              </a:r>
              <a:r>
                <a:rPr lang="en-US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-  סף ביטחון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87552" y="4456557"/>
            <a:ext cx="12001500" cy="988695"/>
            <a:chOff x="0" y="-38100"/>
            <a:chExt cx="16002000" cy="13182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002000" cy="1280160"/>
            </a:xfrm>
            <a:custGeom>
              <a:avLst/>
              <a:gdLst/>
              <a:ahLst/>
              <a:cxnLst/>
              <a:rect l="l" t="t" r="r" b="b"/>
              <a:pathLst>
                <a:path w="16002000" h="1280160">
                  <a:moveTo>
                    <a:pt x="0" y="0"/>
                  </a:moveTo>
                  <a:lnTo>
                    <a:pt x="16002000" y="0"/>
                  </a:lnTo>
                  <a:lnTo>
                    <a:pt x="16002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3562" b="-19356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6002000" cy="131826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המודל הסופי רץ על כלל הדאטה, נבחר סף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0.8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, ומי שמעליו עבר אימות ידני עיוור (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Hit Rate</a:t>
              </a:r>
              <a:r>
                <a:rPr lang="ar-EG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).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78027" y="5518023"/>
            <a:ext cx="16327374" cy="19050"/>
            <a:chOff x="0" y="0"/>
            <a:chExt cx="21769832" cy="25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769832" cy="25400"/>
            </a:xfrm>
            <a:custGeom>
              <a:avLst/>
              <a:gdLst/>
              <a:ahLst/>
              <a:cxnLst/>
              <a:rect l="l" t="t" r="r" b="b"/>
              <a:pathLst>
                <a:path w="21769832" h="25400">
                  <a:moveTo>
                    <a:pt x="0" y="0"/>
                  </a:moveTo>
                  <a:lnTo>
                    <a:pt x="21769832" y="2540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6650236" b="-16650236"/>
              </a:stretch>
            </a:blip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318236" y="5657564"/>
            <a:ext cx="3977640" cy="487204"/>
            <a:chOff x="0" y="-9525"/>
            <a:chExt cx="5303520" cy="64960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03520" cy="640080"/>
            </a:xfrm>
            <a:custGeom>
              <a:avLst/>
              <a:gdLst/>
              <a:ahLst/>
              <a:cxnLst/>
              <a:rect l="l" t="t" r="r" b="b"/>
              <a:pathLst>
                <a:path w="5303520" h="64008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5733" b="-10716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5303520" cy="64960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שלב </a:t>
              </a:r>
              <a:r>
                <a:rPr lang="en-US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</a:t>
              </a:r>
              <a:r>
                <a:rPr lang="ar-EG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-</a:t>
              </a:r>
              <a:r>
                <a:rPr lang="en-US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-  מול </a:t>
              </a:r>
              <a:r>
                <a:rPr lang="en-US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87552" y="5636133"/>
            <a:ext cx="12001500" cy="988695"/>
            <a:chOff x="0" y="-38100"/>
            <a:chExt cx="16002000" cy="13182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6002000" cy="1280160"/>
            </a:xfrm>
            <a:custGeom>
              <a:avLst/>
              <a:gdLst/>
              <a:ahLst/>
              <a:cxnLst/>
              <a:rect l="l" t="t" r="r" b="b"/>
              <a:pathLst>
                <a:path w="16002000" h="1280160">
                  <a:moveTo>
                    <a:pt x="0" y="0"/>
                  </a:moveTo>
                  <a:lnTo>
                    <a:pt x="16002000" y="0"/>
                  </a:lnTo>
                  <a:lnTo>
                    <a:pt x="16002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3562" b="-19356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6002000" cy="131826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אותו סט מבחן ללא תשובות יחד עם התרשימים. עשר ריצות עיוורות והכרעת רוב, ללא דליפה.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78027" y="6697599"/>
            <a:ext cx="16327374" cy="19050"/>
            <a:chOff x="0" y="0"/>
            <a:chExt cx="21769832" cy="25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769832" cy="25400"/>
            </a:xfrm>
            <a:custGeom>
              <a:avLst/>
              <a:gdLst/>
              <a:ahLst/>
              <a:cxnLst/>
              <a:rect l="l" t="t" r="r" b="b"/>
              <a:pathLst>
                <a:path w="21769832" h="25400">
                  <a:moveTo>
                    <a:pt x="0" y="0"/>
                  </a:moveTo>
                  <a:lnTo>
                    <a:pt x="21769832" y="2540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6650236" b="-16650236"/>
              </a:stretch>
            </a:blip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318236" y="6837140"/>
            <a:ext cx="3977640" cy="446056"/>
            <a:chOff x="0" y="-9525"/>
            <a:chExt cx="5303520" cy="59474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303520" cy="585216"/>
            </a:xfrm>
            <a:custGeom>
              <a:avLst/>
              <a:gdLst/>
              <a:ahLst/>
              <a:cxnLst/>
              <a:rect l="l" t="t" r="r" b="b"/>
              <a:pathLst>
                <a:path w="5303520" h="585216">
                  <a:moveTo>
                    <a:pt x="0" y="0"/>
                  </a:moveTo>
                  <a:lnTo>
                    <a:pt x="5303520" y="0"/>
                  </a:lnTo>
                  <a:lnTo>
                    <a:pt x="530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6583" b="-12658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5303520" cy="59474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שלב </a:t>
              </a:r>
              <a:r>
                <a:rPr lang="en-US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</a:t>
              </a:r>
              <a:r>
                <a:rPr lang="he-IL" sz="21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-  אשכולות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87552" y="6815709"/>
            <a:ext cx="12001500" cy="988695"/>
            <a:chOff x="0" y="-38100"/>
            <a:chExt cx="16002000" cy="13182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6002000" cy="1280160"/>
            </a:xfrm>
            <a:custGeom>
              <a:avLst/>
              <a:gdLst/>
              <a:ahLst/>
              <a:cxnLst/>
              <a:rect l="l" t="t" r="r" b="b"/>
              <a:pathLst>
                <a:path w="16002000" h="1280160">
                  <a:moveTo>
                    <a:pt x="0" y="0"/>
                  </a:moveTo>
                  <a:lnTo>
                    <a:pt x="16002000" y="0"/>
                  </a:lnTo>
                  <a:lnTo>
                    <a:pt x="16002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3562" b="-19356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6002000" cy="131826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en-US" sz="2100" b="1" dirty="0" err="1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KMeans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על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פיצ'רים התנהגותיים, בחירת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לפי 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Elbow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ו-</a:t>
              </a:r>
              <a:r>
                <a:rPr lang="en-US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Silhouette</a:t>
              </a:r>
              <a:r>
                <a:rPr lang="he-IL" sz="2100" b="1" dirty="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, אפיון כל אשכול.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1" b="-781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Picture 13" descr="bg-3-sec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87552" y="3400425"/>
            <a:ext cx="1645920" cy="1894098"/>
            <a:chOff x="0" y="-38100"/>
            <a:chExt cx="2194560" cy="2525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" cy="2487364"/>
            </a:xfrm>
            <a:custGeom>
              <a:avLst/>
              <a:gdLst/>
              <a:ahLst/>
              <a:cxnLst/>
              <a:rect l="l" t="t" r="r" b="b"/>
              <a:pathLst>
                <a:path w="2194560" h="2487364">
                  <a:moveTo>
                    <a:pt x="0" y="0"/>
                  </a:moveTo>
                  <a:lnTo>
                    <a:pt x="2194560" y="0"/>
                  </a:lnTo>
                  <a:lnTo>
                    <a:pt x="2194560" y="2487364"/>
                  </a:lnTo>
                  <a:lnTo>
                    <a:pt x="0" y="24873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6227" r="-46227" b="3382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94560" cy="252546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10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22380" y="406328"/>
            <a:ext cx="10972800" cy="3245205"/>
            <a:chOff x="0" y="0"/>
            <a:chExt cx="14630400" cy="43269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4326940"/>
            </a:xfrm>
            <a:custGeom>
              <a:avLst/>
              <a:gdLst/>
              <a:ahLst/>
              <a:cxnLst/>
              <a:rect l="l" t="t" r="r" b="b"/>
              <a:pathLst>
                <a:path w="14630400" h="4326940">
                  <a:moveTo>
                    <a:pt x="0" y="0"/>
                  </a:moveTo>
                  <a:lnTo>
                    <a:pt x="14630400" y="0"/>
                  </a:lnTo>
                  <a:lnTo>
                    <a:pt x="14630400" y="4326940"/>
                  </a:lnTo>
                  <a:lnTo>
                    <a:pt x="0" y="4326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8977" b="1721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4630400" cy="432694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7439"/>
                </a:lnSpc>
              </a:pPr>
              <a:r>
                <a:rPr lang="he-IL" sz="61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תוצאות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00987" y="3414713"/>
            <a:ext cx="15773400" cy="1131707"/>
            <a:chOff x="0" y="-19050"/>
            <a:chExt cx="21031200" cy="15089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031200" cy="1489893"/>
            </a:xfrm>
            <a:custGeom>
              <a:avLst/>
              <a:gdLst/>
              <a:ahLst/>
              <a:cxnLst/>
              <a:rect l="l" t="t" r="r" b="b"/>
              <a:pathLst>
                <a:path w="21031200" h="1489893">
                  <a:moveTo>
                    <a:pt x="0" y="0"/>
                  </a:moveTo>
                  <a:lnTo>
                    <a:pt x="21031200" y="0"/>
                  </a:lnTo>
                  <a:lnTo>
                    <a:pt x="21031200" y="1489893"/>
                  </a:lnTo>
                  <a:lnTo>
                    <a:pt x="0" y="14898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0499" b="-19959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1031200" cy="150894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019"/>
                </a:lnSpc>
              </a:pPr>
              <a:r>
                <a:rPr lang="he-IL" sz="334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הסטטיסטיקה ועד האשכולות, כולל התובנה המרכזית של הפרויקט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35" name="Picture 34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744432" cy="4579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endParaRPr lang="en-US" sz="1800" b="1" spc="149" dirty="0">
                <a:solidFill>
                  <a:srgbClr val="C8102E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55523"/>
            <a:chOff x="0" y="0"/>
            <a:chExt cx="21744432" cy="10073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1007364"/>
            </a:xfrm>
            <a:custGeom>
              <a:avLst/>
              <a:gdLst/>
              <a:ahLst/>
              <a:cxnLst/>
              <a:rect l="l" t="t" r="r" b="b"/>
              <a:pathLst>
                <a:path w="21744432" h="1007364">
                  <a:moveTo>
                    <a:pt x="0" y="0"/>
                  </a:moveTo>
                  <a:lnTo>
                    <a:pt x="21744432" y="0"/>
                  </a:lnTo>
                  <a:lnTo>
                    <a:pt x="21744432" y="1007364"/>
                  </a:lnTo>
                  <a:lnTo>
                    <a:pt x="0" y="10073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75208" b="-365979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100736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799"/>
                </a:lnSpc>
              </a:pPr>
              <a:r>
                <a:rPr lang="he-IL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פרופיל האוכלוסייה, התפלגויות ארוכות-זנב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Iran_POI   </a:t>
              </a:r>
              <a:r>
                <a:rPr lang="he-IL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תוצאות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15216" y="2043112"/>
            <a:ext cx="5280660" cy="370904"/>
            <a:chOff x="0" y="-19050"/>
            <a:chExt cx="7040880" cy="4945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40880" cy="475488"/>
            </a:xfrm>
            <a:custGeom>
              <a:avLst/>
              <a:gdLst/>
              <a:ahLst/>
              <a:cxnLst/>
              <a:rect l="l" t="t" r="r" b="b"/>
              <a:pathLst>
                <a:path w="7040880" h="475488">
                  <a:moveTo>
                    <a:pt x="0" y="0"/>
                  </a:moveTo>
                  <a:lnTo>
                    <a:pt x="7040880" y="0"/>
                  </a:lnTo>
                  <a:lnTo>
                    <a:pt x="70408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528" b="-23852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040880" cy="494538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followers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15216" y="2537460"/>
            <a:ext cx="5280660" cy="3414854"/>
            <a:chOff x="0" y="0"/>
            <a:chExt cx="7040880" cy="4553139"/>
          </a:xfrm>
        </p:grpSpPr>
        <p:sp>
          <p:nvSpPr>
            <p:cNvPr id="18" name="Freeform 18" descr="media/image4.png"/>
            <p:cNvSpPr/>
            <p:nvPr/>
          </p:nvSpPr>
          <p:spPr>
            <a:xfrm>
              <a:off x="0" y="0"/>
              <a:ext cx="7040880" cy="4553139"/>
            </a:xfrm>
            <a:custGeom>
              <a:avLst/>
              <a:gdLst/>
              <a:ahLst/>
              <a:cxnLst/>
              <a:rect l="l" t="t" r="r" b="b"/>
              <a:pathLst>
                <a:path w="7040880" h="4553139">
                  <a:moveTo>
                    <a:pt x="0" y="0"/>
                  </a:moveTo>
                  <a:lnTo>
                    <a:pt x="7040880" y="0"/>
                  </a:lnTo>
                  <a:lnTo>
                    <a:pt x="7040880" y="4553139"/>
                  </a:lnTo>
                  <a:lnTo>
                    <a:pt x="0" y="4553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200" r="-820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01384" y="2043112"/>
            <a:ext cx="5280660" cy="370904"/>
            <a:chOff x="0" y="-19050"/>
            <a:chExt cx="7040880" cy="4945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40880" cy="475488"/>
            </a:xfrm>
            <a:custGeom>
              <a:avLst/>
              <a:gdLst/>
              <a:ahLst/>
              <a:cxnLst/>
              <a:rect l="l" t="t" r="r" b="b"/>
              <a:pathLst>
                <a:path w="7040880" h="475488">
                  <a:moveTo>
                    <a:pt x="0" y="0"/>
                  </a:moveTo>
                  <a:lnTo>
                    <a:pt x="7040880" y="0"/>
                  </a:lnTo>
                  <a:lnTo>
                    <a:pt x="70408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528" b="-23852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7040880" cy="494538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following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35803" y="2537460"/>
            <a:ext cx="5146241" cy="3414854"/>
            <a:chOff x="0" y="0"/>
            <a:chExt cx="7040880" cy="4672066"/>
          </a:xfrm>
        </p:grpSpPr>
        <p:sp>
          <p:nvSpPr>
            <p:cNvPr id="23" name="Freeform 23" descr="media/image5.png"/>
            <p:cNvSpPr/>
            <p:nvPr/>
          </p:nvSpPr>
          <p:spPr>
            <a:xfrm>
              <a:off x="0" y="0"/>
              <a:ext cx="7040880" cy="4672066"/>
            </a:xfrm>
            <a:custGeom>
              <a:avLst/>
              <a:gdLst/>
              <a:ahLst/>
              <a:cxnLst/>
              <a:rect l="l" t="t" r="r" b="b"/>
              <a:pathLst>
                <a:path w="7040880" h="4672066">
                  <a:moveTo>
                    <a:pt x="0" y="0"/>
                  </a:moveTo>
                  <a:lnTo>
                    <a:pt x="7040880" y="0"/>
                  </a:lnTo>
                  <a:lnTo>
                    <a:pt x="7040880" y="4672066"/>
                  </a:lnTo>
                  <a:lnTo>
                    <a:pt x="0" y="4672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720" r="-972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87552" y="2043112"/>
            <a:ext cx="5280660" cy="370904"/>
            <a:chOff x="0" y="-19050"/>
            <a:chExt cx="7040880" cy="4945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40880" cy="475488"/>
            </a:xfrm>
            <a:custGeom>
              <a:avLst/>
              <a:gdLst/>
              <a:ahLst/>
              <a:cxnLst/>
              <a:rect l="l" t="t" r="r" b="b"/>
              <a:pathLst>
                <a:path w="7040880" h="475488">
                  <a:moveTo>
                    <a:pt x="0" y="0"/>
                  </a:moveTo>
                  <a:lnTo>
                    <a:pt x="7040880" y="0"/>
                  </a:lnTo>
                  <a:lnTo>
                    <a:pt x="70408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528" b="-23852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7040880" cy="494538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statuses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2537460"/>
            <a:ext cx="5734812" cy="3649028"/>
            <a:chOff x="0" y="0"/>
            <a:chExt cx="7040880" cy="3911600"/>
          </a:xfrm>
        </p:grpSpPr>
        <p:sp>
          <p:nvSpPr>
            <p:cNvPr id="28" name="Freeform 28" descr="media/image6.png"/>
            <p:cNvSpPr/>
            <p:nvPr/>
          </p:nvSpPr>
          <p:spPr>
            <a:xfrm>
              <a:off x="0" y="0"/>
              <a:ext cx="7040880" cy="3911600"/>
            </a:xfrm>
            <a:custGeom>
              <a:avLst/>
              <a:gdLst/>
              <a:ahLst/>
              <a:cxnLst/>
              <a:rect l="l" t="t" r="r" b="b"/>
              <a:pathLst>
                <a:path w="7040880" h="3911600">
                  <a:moveTo>
                    <a:pt x="0" y="0"/>
                  </a:moveTo>
                  <a:lnTo>
                    <a:pt x="7040880" y="0"/>
                  </a:lnTo>
                  <a:lnTo>
                    <a:pt x="7040880" y="3911600"/>
                  </a:lnTo>
                  <a:lnTo>
                    <a:pt x="0" y="391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6598" y="6734310"/>
            <a:ext cx="16777079" cy="794725"/>
            <a:chOff x="0" y="-424546"/>
            <a:chExt cx="21744432" cy="10300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44432" cy="605482"/>
            </a:xfrm>
            <a:custGeom>
              <a:avLst/>
              <a:gdLst/>
              <a:ahLst/>
              <a:cxnLst/>
              <a:rect l="l" t="t" r="r" b="b"/>
              <a:pathLst>
                <a:path w="21744432" h="605482">
                  <a:moveTo>
                    <a:pt x="0" y="0"/>
                  </a:moveTo>
                  <a:lnTo>
                    <a:pt x="21744432" y="0"/>
                  </a:lnTo>
                  <a:lnTo>
                    <a:pt x="21744432" y="605482"/>
                  </a:lnTo>
                  <a:lnTo>
                    <a:pt x="0" y="6054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1431" b="-64808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24546"/>
              <a:ext cx="21744432" cy="1030028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639"/>
                </a:lnSpc>
              </a:pPr>
              <a:r>
                <a:rPr lang="en-US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945</a:t>
              </a:r>
              <a:r>
                <a:rPr lang="he-IL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he-IL" sz="2199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יוזרים</a:t>
              </a:r>
              <a:r>
                <a:rPr lang="he-IL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ייחודיים,  חציון עוקבים </a:t>
              </a:r>
              <a:r>
                <a:rPr lang="en-US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68</a:t>
              </a:r>
              <a:r>
                <a:rPr lang="he-IL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,  חציון </a:t>
              </a:r>
              <a:r>
                <a:rPr lang="he-IL" sz="2199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נעקבים</a:t>
              </a:r>
              <a:r>
                <a:rPr lang="he-IL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en-US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289</a:t>
              </a:r>
              <a:r>
                <a:rPr lang="he-IL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,  חציון פוסטים </a:t>
              </a:r>
              <a:r>
                <a:rPr lang="en-US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544</a:t>
              </a:r>
              <a:r>
                <a:rPr lang="he-IL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,  ותק </a:t>
              </a:r>
              <a:r>
                <a:rPr lang="en-US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2007</a:t>
              </a:r>
              <a:r>
                <a:rPr lang="he-IL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עד </a:t>
              </a:r>
              <a:r>
                <a:rPr lang="en-US" sz="21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2025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0976" y="7317056"/>
            <a:ext cx="16542701" cy="2734105"/>
            <a:chOff x="0" y="-3060255"/>
            <a:chExt cx="22056935" cy="364547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744432" cy="585216"/>
            </a:xfrm>
            <a:custGeom>
              <a:avLst/>
              <a:gdLst/>
              <a:ahLst/>
              <a:cxnLst/>
              <a:rect l="l" t="t" r="r" b="b"/>
              <a:pathLst>
                <a:path w="21744432" h="585216">
                  <a:moveTo>
                    <a:pt x="0" y="0"/>
                  </a:moveTo>
                  <a:lnTo>
                    <a:pt x="21744432" y="0"/>
                  </a:lnTo>
                  <a:lnTo>
                    <a:pt x="2174443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73990" b="-67399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2503" y="-3060255"/>
              <a:ext cx="21744432" cy="59474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100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מעטים עם המון עוקבים מול רוב דל-פעילות, לכן הוחלו </a:t>
              </a:r>
              <a:r>
                <a:rPr lang="en-US" sz="2100" b="1" dirty="0">
                  <a:latin typeface="Arial Bold"/>
                  <a:ea typeface="Arial Bold"/>
                  <a:cs typeface="Arial Bold"/>
                  <a:sym typeface="Arial Bold"/>
                </a:rPr>
                <a:t>log</a:t>
              </a:r>
              <a:r>
                <a:rPr lang="he-IL" sz="2100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 וסטנדרטיזציה על הפיצ'רים הנומריים.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24" name="Picture 23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744432" cy="4579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endParaRPr lang="en-US" sz="1800" b="1" spc="149" dirty="0">
                <a:solidFill>
                  <a:srgbClr val="C8102E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42112"/>
            <a:chOff x="0" y="0"/>
            <a:chExt cx="21744432" cy="989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989482"/>
            </a:xfrm>
            <a:custGeom>
              <a:avLst/>
              <a:gdLst/>
              <a:ahLst/>
              <a:cxnLst/>
              <a:rect l="l" t="t" r="r" b="b"/>
              <a:pathLst>
                <a:path w="21744432" h="989482">
                  <a:moveTo>
                    <a:pt x="0" y="0"/>
                  </a:moveTo>
                  <a:lnTo>
                    <a:pt x="21744432" y="0"/>
                  </a:lnTo>
                  <a:lnTo>
                    <a:pt x="21744432" y="989482"/>
                  </a:lnTo>
                  <a:lnTo>
                    <a:pt x="0" y="9894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81988" b="-37440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98948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680"/>
                </a:lnSpc>
              </a:pPr>
              <a:r>
                <a:rPr lang="he-IL" sz="390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שלוש המשימות עברו את יעדי הקאפא, התיוג עקבי ואמין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Iran_POI   </a:t>
              </a:r>
              <a:r>
                <a:rPr lang="he-IL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תוצאות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987552" y="2194560"/>
          <a:ext cx="16287750" cy="3097530"/>
        </p:xfrm>
        <a:graphic>
          <a:graphicData uri="http://schemas.openxmlformats.org/drawingml/2006/table">
            <a:tbl>
              <a:tblPr/>
              <a:tblGrid>
                <a:gridCol w="32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he-IL" sz="21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עמודה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he-IL" sz="21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אחוז הסכמה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Cohen's κ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he-IL" sz="21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יעד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he-IL" sz="21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עובר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1055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target_population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C8102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0.88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 </a:t>
                      </a:r>
                      <a:r>
                        <a:rPr lang="he-IL" sz="225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rtl/>
                        </a:rPr>
                        <a:t>ומעלה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he-IL" sz="2250" b="1">
                          <a:solidFill>
                            <a:srgbClr val="2E7D32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כן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1055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locals_vs_diaspora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C8102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1.00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 </a:t>
                      </a:r>
                      <a:r>
                        <a:rPr lang="he-IL" sz="225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rtl/>
                        </a:rPr>
                        <a:t>ומעלה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he-IL" sz="2250" b="1">
                          <a:solidFill>
                            <a:srgbClr val="2E7D32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כן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1055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person_vs_organization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C8102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0.94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 </a:t>
                      </a:r>
                      <a:r>
                        <a:rPr lang="he-IL" sz="225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rtl/>
                        </a:rPr>
                        <a:t>ומעלה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he-IL" sz="2250" b="1">
                          <a:solidFill>
                            <a:srgbClr val="2E7D32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כן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" name="Group 18"/>
          <p:cNvGrpSpPr/>
          <p:nvPr/>
        </p:nvGrpSpPr>
        <p:grpSpPr>
          <a:xfrm>
            <a:off x="987552" y="5677852"/>
            <a:ext cx="16308324" cy="480669"/>
            <a:chOff x="0" y="-19050"/>
            <a:chExt cx="21744432" cy="6408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44432" cy="621841"/>
            </a:xfrm>
            <a:custGeom>
              <a:avLst/>
              <a:gdLst/>
              <a:ahLst/>
              <a:cxnLst/>
              <a:rect l="l" t="t" r="r" b="b"/>
              <a:pathLst>
                <a:path w="21744432" h="621841">
                  <a:moveTo>
                    <a:pt x="0" y="0"/>
                  </a:moveTo>
                  <a:lnTo>
                    <a:pt x="21744432" y="0"/>
                  </a:lnTo>
                  <a:lnTo>
                    <a:pt x="21744432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34294" b="-62840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21744432" cy="64089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700"/>
                </a:lnSpc>
              </a:pPr>
              <a:r>
                <a:rPr lang="he-IL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כל שלוש המשימות עוברות את יעדי ה-</a:t>
              </a:r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</a:rPr>
                <a:t>Kappa</a:t>
              </a:r>
              <a:r>
                <a:rPr lang="he-IL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בפער נוח, התיוג עקבי ואמין ומהווה בסיס איתן לאימון.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7552" y="6233636"/>
            <a:ext cx="16308324" cy="446056"/>
            <a:chOff x="0" y="-9525"/>
            <a:chExt cx="21744432" cy="5947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44432" cy="585216"/>
            </a:xfrm>
            <a:custGeom>
              <a:avLst/>
              <a:gdLst/>
              <a:ahLst/>
              <a:cxnLst/>
              <a:rect l="l" t="t" r="r" b="b"/>
              <a:pathLst>
                <a:path w="21744432" h="585216">
                  <a:moveTo>
                    <a:pt x="0" y="0"/>
                  </a:moveTo>
                  <a:lnTo>
                    <a:pt x="21744432" y="0"/>
                  </a:lnTo>
                  <a:lnTo>
                    <a:pt x="2174443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73990" b="-67399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21744432" cy="59474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520"/>
                </a:lnSpc>
              </a:pPr>
              <a:r>
                <a:rPr lang="he-IL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התפלגות </a:t>
              </a:r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</a:t>
              </a:r>
              <a:r>
                <a:rPr lang="he-IL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ב-</a:t>
              </a:r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</a:t>
              </a:r>
              <a:r>
                <a:rPr lang="he-IL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הראשונים: </a:t>
              </a:r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</a:rPr>
                <a:t>13</a:t>
              </a:r>
              <a:r>
                <a:rPr lang="ar-EG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target,  50 non-target,  37 unknown</a:t>
              </a:r>
              <a:r>
                <a:rPr lang="he-IL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. דגימה אקראית מייצגת.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27" name="Picture 26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42112"/>
            <a:chOff x="0" y="0"/>
            <a:chExt cx="21744432" cy="989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989482"/>
            </a:xfrm>
            <a:custGeom>
              <a:avLst/>
              <a:gdLst/>
              <a:ahLst/>
              <a:cxnLst/>
              <a:rect l="l" t="t" r="r" b="b"/>
              <a:pathLst>
                <a:path w="21744432" h="989482">
                  <a:moveTo>
                    <a:pt x="0" y="0"/>
                  </a:moveTo>
                  <a:lnTo>
                    <a:pt x="21744432" y="0"/>
                  </a:lnTo>
                  <a:lnTo>
                    <a:pt x="21744432" y="989482"/>
                  </a:lnTo>
                  <a:lnTo>
                    <a:pt x="0" y="9894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81988" b="-37440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98948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680"/>
                </a:lnSpc>
              </a:pPr>
              <a:r>
                <a:rPr lang="he-IL" sz="390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הלמידה האקטיבית, הדאטה גדל אך הביצועים לא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Iran_POI   </a:t>
              </a:r>
              <a:r>
                <a:rPr lang="he-IL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תוצאות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7552" y="2125980"/>
            <a:ext cx="10835640" cy="4317015"/>
            <a:chOff x="0" y="0"/>
            <a:chExt cx="14447520" cy="5756021"/>
          </a:xfrm>
        </p:grpSpPr>
        <p:sp>
          <p:nvSpPr>
            <p:cNvPr id="18" name="Freeform 18" descr="media/image7.png"/>
            <p:cNvSpPr/>
            <p:nvPr/>
          </p:nvSpPr>
          <p:spPr>
            <a:xfrm>
              <a:off x="0" y="0"/>
              <a:ext cx="14447520" cy="5756021"/>
            </a:xfrm>
            <a:custGeom>
              <a:avLst/>
              <a:gdLst/>
              <a:ahLst/>
              <a:cxnLst/>
              <a:rect l="l" t="t" r="r" b="b"/>
              <a:pathLst>
                <a:path w="14447520" h="5756021">
                  <a:moveTo>
                    <a:pt x="0" y="0"/>
                  </a:moveTo>
                  <a:lnTo>
                    <a:pt x="14447520" y="0"/>
                  </a:lnTo>
                  <a:lnTo>
                    <a:pt x="14447520" y="5756021"/>
                  </a:lnTo>
                  <a:lnTo>
                    <a:pt x="0" y="5756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" r="-7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58116" y="2130266"/>
            <a:ext cx="4937760" cy="4179094"/>
            <a:chOff x="0" y="-85725"/>
            <a:chExt cx="6583680" cy="55721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83680" cy="5486400"/>
            </a:xfrm>
            <a:custGeom>
              <a:avLst/>
              <a:gdLst/>
              <a:ahLst/>
              <a:cxnLst/>
              <a:rect l="l" t="t" r="r" b="b"/>
              <a:pathLst>
                <a:path w="6583680" h="5486400">
                  <a:moveTo>
                    <a:pt x="0" y="0"/>
                  </a:moveTo>
                  <a:lnTo>
                    <a:pt x="6583680" y="0"/>
                  </a:lnTo>
                  <a:lnTo>
                    <a:pt x="658368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919" r="-56919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6583680" cy="557212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marL="453390" lvl="1" indent="-226695" algn="just" rtl="1">
                <a:lnSpc>
                  <a:spcPts val="3300"/>
                </a:lnSpc>
                <a:buFont typeface="Arial"/>
                <a:buChar char="•"/>
              </a:pP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התיוג גדל מ-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ל-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640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לאורך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איטרציות</a:t>
              </a:r>
            </a:p>
            <a:p>
              <a:pPr marL="453390" lvl="1" indent="-226695" algn="just" rtl="1">
                <a:lnSpc>
                  <a:spcPts val="3300"/>
                </a:lnSpc>
                <a:buFont typeface="Arial"/>
                <a:buChar char="•"/>
              </a:pP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כל איטרציה מוסיפה את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הלא-ודאיים ביותר</a:t>
              </a:r>
            </a:p>
            <a:p>
              <a:pPr marL="453390" lvl="1" indent="-226695" algn="just" rtl="1">
                <a:lnSpc>
                  <a:spcPts val="3300"/>
                </a:lnSpc>
                <a:buFont typeface="Arial"/>
                <a:buChar char="•"/>
              </a:pP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Accuracy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הממוצע על פני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1,296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המסווגים לא עלה, ואף ירד קלות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8027" y="6642735"/>
            <a:ext cx="16341090" cy="1253490"/>
            <a:chOff x="0" y="0"/>
            <a:chExt cx="21788120" cy="16713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88120" cy="1671320"/>
            </a:xfrm>
            <a:custGeom>
              <a:avLst/>
              <a:gdLst/>
              <a:ahLst/>
              <a:cxnLst/>
              <a:rect l="l" t="t" r="r" b="b"/>
              <a:pathLst>
                <a:path w="21788120" h="1671320">
                  <a:moveTo>
                    <a:pt x="0" y="111379"/>
                  </a:moveTo>
                  <a:cubicBezTo>
                    <a:pt x="0" y="49911"/>
                    <a:pt x="49911" y="0"/>
                    <a:pt x="111379" y="0"/>
                  </a:cubicBezTo>
                  <a:lnTo>
                    <a:pt x="21676740" y="0"/>
                  </a:lnTo>
                  <a:cubicBezTo>
                    <a:pt x="21738335" y="0"/>
                    <a:pt x="21788120" y="49911"/>
                    <a:pt x="21788120" y="111379"/>
                  </a:cubicBezTo>
                  <a:lnTo>
                    <a:pt x="21788120" y="1559941"/>
                  </a:lnTo>
                  <a:cubicBezTo>
                    <a:pt x="21788120" y="1621536"/>
                    <a:pt x="21738208" y="1671320"/>
                    <a:pt x="21676740" y="1671320"/>
                  </a:cubicBezTo>
                  <a:lnTo>
                    <a:pt x="111379" y="1671320"/>
                  </a:lnTo>
                  <a:cubicBezTo>
                    <a:pt x="49784" y="1671320"/>
                    <a:pt x="0" y="1621409"/>
                    <a:pt x="0" y="1559941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99032" y="6883717"/>
            <a:ext cx="15499080" cy="874698"/>
            <a:chOff x="0" y="-57150"/>
            <a:chExt cx="20665440" cy="116626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665439" cy="1109113"/>
            </a:xfrm>
            <a:custGeom>
              <a:avLst/>
              <a:gdLst/>
              <a:ahLst/>
              <a:cxnLst/>
              <a:rect l="l" t="t" r="r" b="b"/>
              <a:pathLst>
                <a:path w="20665439" h="1109113">
                  <a:moveTo>
                    <a:pt x="0" y="0"/>
                  </a:moveTo>
                  <a:lnTo>
                    <a:pt x="20665439" y="0"/>
                  </a:lnTo>
                  <a:lnTo>
                    <a:pt x="20665439" y="1109113"/>
                  </a:lnTo>
                  <a:lnTo>
                    <a:pt x="0" y="11091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17708" b="-30839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20665440" cy="1166263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00"/>
                </a:lnSpc>
              </a:pPr>
              <a:r>
                <a:rPr lang="he-IL" sz="2175" b="1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למה זה קורה?  הלמידה האקטיבית דוגמת בכוונה את המקרים הקשים ביותר, אז הבנצ'מרק נעשה קשה יותר בכל איטרציה. צוואר הבקבוק לא היה כמות הדאטה, אלא ייצוג הפיצ'רים.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4200" b="0" i="0">
                <a:solidFill>
                  <a:srgbClr val="000000"/>
                </a:solidFill>
                <a:latin typeface="Suez One"/>
                <a:cs typeface="Suez One"/>
              </a:rPr>
              <a:t>המודל המנצח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35840" y="1783080"/>
            <a:ext cx="585216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 rtl="1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משימה</a:t>
                      </a:r>
                    </a:p>
                  </a:txBody>
                  <a:tcPr anchor="ctr">
                    <a:solidFill>
                      <a:srgbClr val="142A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אלגוריתם מוביל</a:t>
                      </a:r>
                    </a:p>
                  </a:txBody>
                  <a:tcPr anchor="ctr">
                    <a:solidFill>
                      <a:srgbClr val="142A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AUC</a:t>
                      </a:r>
                    </a:p>
                  </a:txBody>
                  <a:tcPr anchor="ctr">
                    <a:solidFill>
                      <a:srgbClr val="14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 rtl="1"/>
                      <a:r>
                        <a:rPr sz="17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target_population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7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700" b="1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0.88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 rtl="1"/>
                      <a:r>
                        <a:rPr sz="17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locals_vs_diaspora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7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Decision Tree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700" b="1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 rtl="1"/>
                      <a:r>
                        <a:rPr sz="17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person_vs_organization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7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SVM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700" b="1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0.84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69280"/>
            <a:ext cx="8595360" cy="23774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800" b="0" i="0">
                <a:solidFill>
                  <a:srgbClr val="33415C"/>
                </a:solidFill>
                <a:latin typeface="Arial"/>
                <a:cs typeface="Arial"/>
              </a:rPr>
              <a:t>בשלב 5 המוביל משתנה בין המשימות (שתי מחלקות, K-Fold). אף מודל בודד לא שלט בכולן.</a:t>
            </a:r>
          </a:p>
          <a:p>
            <a:pPr algn="r" rtl="1">
              <a:spcAft>
                <a:spcPts val="600"/>
              </a:spcAft>
            </a:pPr>
            <a:r>
              <a:rPr sz="1800" b="0" i="0">
                <a:solidFill>
                  <a:srgbClr val="33415C"/>
                </a:solidFill>
                <a:latin typeface="Arial"/>
                <a:cs typeface="Arial"/>
              </a:rPr>
              <a:t>למודל הסופי בחרנו את זה שגם מנצח על המשימה המרכזית וגם נותן הסתברויות שמישות לסף הביטחון.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2468880"/>
            <a:ext cx="7406640" cy="5943600"/>
          </a:xfrm>
          <a:prstGeom prst="rect">
            <a:avLst/>
          </a:prstGeom>
          <a:solidFill>
            <a:srgbClr val="F4F6FA"/>
          </a:solidFill>
          <a:ln w="31750">
            <a:solidFill>
              <a:srgbClr val="C9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0" y="2697480"/>
            <a:ext cx="6675120" cy="5486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000" b="1" i="0">
                <a:solidFill>
                  <a:srgbClr val="142A54"/>
                </a:solidFill>
                <a:latin typeface="Arial"/>
                <a:cs typeface="Arial"/>
              </a:rPr>
              <a:t>המודל הסופי המיושם</a:t>
            </a:r>
          </a:p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C8102E"/>
                </a:solidFill>
                <a:latin typeface="Suez One"/>
                <a:cs typeface="Suez One"/>
              </a:rPr>
              <a:t>Random Forest מכויל</a:t>
            </a:r>
          </a:p>
          <a:p>
            <a:pPr algn="ctr" rtl="1">
              <a:spcAft>
                <a:spcPts val="1200"/>
              </a:spcAft>
            </a:pPr>
            <a:r>
              <a:rPr sz="1800" b="0" i="0">
                <a:solidFill>
                  <a:srgbClr val="33415C"/>
                </a:solidFill>
                <a:latin typeface="Arial"/>
                <a:cs typeface="Arial"/>
              </a:rPr>
              <a:t>על פיצ'רים נומריים + איראניים</a:t>
            </a:r>
          </a:p>
          <a:p>
            <a:pPr algn="r" rtl="1">
              <a:spcAft>
                <a:spcPts val="400"/>
              </a:spcAft>
            </a:pPr>
            <a:r>
              <a:rPr sz="1900" b="1" i="0">
                <a:solidFill>
                  <a:srgbClr val="C8102E"/>
                </a:solidFill>
                <a:latin typeface="Arial"/>
                <a:cs typeface="Arial"/>
              </a:rPr>
              <a:t>למה דווקא הוא</a:t>
            </a:r>
          </a:p>
          <a:p>
            <a:pPr algn="r" rtl="1">
              <a:spcAft>
                <a:spcPts val="70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cs typeface="Arial"/>
              </a:rPr>
              <a:t>•  ההסתברויות שלו מכוילות (calibrated), ולכן שמישות לסף הביטחון בשלב 8. AdaBoost נותן הסתברויות קיצוניות.</a:t>
            </a:r>
          </a:p>
          <a:p>
            <a:pPr algn="r" rtl="1">
              <a:spcAft>
                <a:spcPts val="70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cs typeface="Arial"/>
              </a:rPr>
              <a:t>•  אחרי ההעשרה הוא מגיע ל-AUC 0.89 על המשימה המרכזית.</a:t>
            </a:r>
          </a:p>
          <a:p>
            <a:pPr algn="r" rtl="1">
              <a:spcAft>
                <a:spcPts val="600"/>
              </a:spcAft>
            </a:pPr>
            <a:r>
              <a:rPr sz="1650" b="1" i="0">
                <a:solidFill>
                  <a:srgbClr val="2E7D32"/>
                </a:solidFill>
                <a:latin typeface="Arial"/>
                <a:cs typeface="Arial"/>
              </a:rPr>
              <a:t>•  זהו המודל שהגיע ל-Hit Rate 90% וניצח את ה-LLM.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875520"/>
            <a:ext cx="9144000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Arial"/>
                <a:cs typeface="Arial"/>
              </a:rPr>
              <a:t>Iran_POI  ·  בחירת המודל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42" name="Picture 41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42112"/>
            <a:chOff x="0" y="0"/>
            <a:chExt cx="21744432" cy="989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989482"/>
            </a:xfrm>
            <a:custGeom>
              <a:avLst/>
              <a:gdLst/>
              <a:ahLst/>
              <a:cxnLst/>
              <a:rect l="l" t="t" r="r" b="b"/>
              <a:pathLst>
                <a:path w="21744432" h="989482">
                  <a:moveTo>
                    <a:pt x="0" y="0"/>
                  </a:moveTo>
                  <a:lnTo>
                    <a:pt x="21744432" y="0"/>
                  </a:lnTo>
                  <a:lnTo>
                    <a:pt x="21744432" y="989482"/>
                  </a:lnTo>
                  <a:lnTo>
                    <a:pt x="0" y="9894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81988" b="-37440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98948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680"/>
                </a:lnSpc>
              </a:pPr>
              <a:r>
                <a:rPr lang="he-IL" sz="390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קריטריון עצירה, המודל הגיע לרוויה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40596" y="2057400"/>
            <a:ext cx="7955280" cy="4419600"/>
            <a:chOff x="0" y="0"/>
            <a:chExt cx="10607040" cy="5892800"/>
          </a:xfrm>
        </p:grpSpPr>
        <p:sp>
          <p:nvSpPr>
            <p:cNvPr id="18" name="Freeform 18" descr="media/image8.png"/>
            <p:cNvSpPr/>
            <p:nvPr/>
          </p:nvSpPr>
          <p:spPr>
            <a:xfrm>
              <a:off x="0" y="0"/>
              <a:ext cx="10607040" cy="5892800"/>
            </a:xfrm>
            <a:custGeom>
              <a:avLst/>
              <a:gdLst/>
              <a:ahLst/>
              <a:cxnLst/>
              <a:rect l="l" t="t" r="r" b="b"/>
              <a:pathLst>
                <a:path w="10607040" h="5892800">
                  <a:moveTo>
                    <a:pt x="0" y="0"/>
                  </a:moveTo>
                  <a:lnTo>
                    <a:pt x="10607040" y="0"/>
                  </a:lnTo>
                  <a:lnTo>
                    <a:pt x="10607040" y="5892800"/>
                  </a:lnTo>
                  <a:lnTo>
                    <a:pt x="0" y="589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7552" y="2057400"/>
            <a:ext cx="7955280" cy="4419600"/>
            <a:chOff x="0" y="0"/>
            <a:chExt cx="10607040" cy="5892800"/>
          </a:xfrm>
        </p:grpSpPr>
        <p:sp>
          <p:nvSpPr>
            <p:cNvPr id="20" name="Freeform 20" descr="media/image9.png"/>
            <p:cNvSpPr/>
            <p:nvPr/>
          </p:nvSpPr>
          <p:spPr>
            <a:xfrm>
              <a:off x="0" y="0"/>
              <a:ext cx="10607040" cy="5892800"/>
            </a:xfrm>
            <a:custGeom>
              <a:avLst/>
              <a:gdLst/>
              <a:ahLst/>
              <a:cxnLst/>
              <a:rect l="l" t="t" r="r" b="b"/>
              <a:pathLst>
                <a:path w="10607040" h="5892800">
                  <a:moveTo>
                    <a:pt x="0" y="0"/>
                  </a:moveTo>
                  <a:lnTo>
                    <a:pt x="10607040" y="0"/>
                  </a:lnTo>
                  <a:lnTo>
                    <a:pt x="10607040" y="5892800"/>
                  </a:lnTo>
                  <a:lnTo>
                    <a:pt x="0" y="589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7552" y="6775132"/>
            <a:ext cx="16308324" cy="425768"/>
            <a:chOff x="0" y="-19050"/>
            <a:chExt cx="21744432" cy="5676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44432" cy="548640"/>
            </a:xfrm>
            <a:custGeom>
              <a:avLst/>
              <a:gdLst/>
              <a:ahLst/>
              <a:cxnLst/>
              <a:rect l="l" t="t" r="r" b="b"/>
              <a:pathLst>
                <a:path w="21744432" h="548640">
                  <a:moveTo>
                    <a:pt x="0" y="0"/>
                  </a:moveTo>
                  <a:lnTo>
                    <a:pt x="21744432" y="0"/>
                  </a:lnTo>
                  <a:lnTo>
                    <a:pt x="2174443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22257" b="-7222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21744432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he-IL" sz="1950" b="1" dirty="0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שלושה אותות תומכים בעצירה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15216" y="7262336"/>
            <a:ext cx="5280660" cy="487204"/>
            <a:chOff x="0" y="-9525"/>
            <a:chExt cx="7040880" cy="64960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40880" cy="640080"/>
            </a:xfrm>
            <a:custGeom>
              <a:avLst/>
              <a:gdLst/>
              <a:ahLst/>
              <a:cxnLst/>
              <a:rect l="l" t="t" r="r" b="b"/>
              <a:pathLst>
                <a:path w="7040880" h="640080">
                  <a:moveTo>
                    <a:pt x="0" y="0"/>
                  </a:moveTo>
                  <a:lnTo>
                    <a:pt x="7040880" y="0"/>
                  </a:lnTo>
                  <a:lnTo>
                    <a:pt x="7040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4335" b="-16433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7040880" cy="64960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en-US" sz="2550" b="1" dirty="0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- AUC </a:t>
              </a:r>
              <a:r>
                <a:rPr lang="he-IL" sz="2550" b="1" dirty="0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יורד </a:t>
              </a:r>
              <a:r>
                <a:rPr lang="en-US" sz="2550" b="1" dirty="0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en-US" sz="2550" b="1" dirty="0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0.005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15216" y="7748968"/>
            <a:ext cx="5280660" cy="453200"/>
            <a:chOff x="0" y="-19050"/>
            <a:chExt cx="7040880" cy="60426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040880" cy="585216"/>
            </a:xfrm>
            <a:custGeom>
              <a:avLst/>
              <a:gdLst/>
              <a:ahLst/>
              <a:cxnLst/>
              <a:rect l="l" t="t" r="r" b="b"/>
              <a:pathLst>
                <a:path w="7040880" h="585216">
                  <a:moveTo>
                    <a:pt x="0" y="0"/>
                  </a:moveTo>
                  <a:lnTo>
                    <a:pt x="7040880" y="0"/>
                  </a:lnTo>
                  <a:lnTo>
                    <a:pt x="7040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84429" b="-184429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7040880" cy="604266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המודל המנצח על </a:t>
              </a:r>
              <a:r>
                <a:rPr lang="en-US" sz="1800" b="1" dirty="0" err="1">
                  <a:latin typeface="Arial Bold"/>
                  <a:ea typeface="Arial Bold"/>
                  <a:cs typeface="Arial Bold"/>
                  <a:sym typeface="Arial Bold"/>
                </a:rPr>
                <a:t>target_population</a:t>
              </a:r>
              <a:endParaRPr lang="en-US" sz="1800" b="1" dirty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87668" y="7262336"/>
            <a:ext cx="5280660" cy="487204"/>
            <a:chOff x="0" y="-9525"/>
            <a:chExt cx="7040880" cy="64960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040880" cy="640080"/>
            </a:xfrm>
            <a:custGeom>
              <a:avLst/>
              <a:gdLst/>
              <a:ahLst/>
              <a:cxnLst/>
              <a:rect l="l" t="t" r="r" b="b"/>
              <a:pathLst>
                <a:path w="7040880" h="640080">
                  <a:moveTo>
                    <a:pt x="0" y="0"/>
                  </a:moveTo>
                  <a:lnTo>
                    <a:pt x="7040880" y="0"/>
                  </a:lnTo>
                  <a:lnTo>
                    <a:pt x="7040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4335" b="-16433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7040880" cy="64960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en-US" sz="2550" b="1" dirty="0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Accuracy - 0.0009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87668" y="7748968"/>
            <a:ext cx="5280660" cy="453200"/>
            <a:chOff x="0" y="-19050"/>
            <a:chExt cx="7040880" cy="60426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040880" cy="585216"/>
            </a:xfrm>
            <a:custGeom>
              <a:avLst/>
              <a:gdLst/>
              <a:ahLst/>
              <a:cxnLst/>
              <a:rect l="l" t="t" r="r" b="b"/>
              <a:pathLst>
                <a:path w="7040880" h="585216">
                  <a:moveTo>
                    <a:pt x="0" y="0"/>
                  </a:moveTo>
                  <a:lnTo>
                    <a:pt x="7040880" y="0"/>
                  </a:lnTo>
                  <a:lnTo>
                    <a:pt x="7040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84429" b="-184429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7040880" cy="604266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שטוח, הרבה מתחת לסף </a:t>
              </a:r>
              <a:r>
                <a:rPr lang="en-US" sz="1800" b="1" dirty="0">
                  <a:latin typeface="Arial Bold"/>
                  <a:ea typeface="Arial Bold"/>
                  <a:cs typeface="Arial Bold"/>
                  <a:sym typeface="Arial Bold"/>
                </a:rPr>
                <a:t>0.5%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0120" y="7262336"/>
            <a:ext cx="5280660" cy="487204"/>
            <a:chOff x="0" y="-9525"/>
            <a:chExt cx="7040880" cy="64960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040880" cy="640080"/>
            </a:xfrm>
            <a:custGeom>
              <a:avLst/>
              <a:gdLst/>
              <a:ahLst/>
              <a:cxnLst/>
              <a:rect l="l" t="t" r="r" b="b"/>
              <a:pathLst>
                <a:path w="7040880" h="640080">
                  <a:moveTo>
                    <a:pt x="0" y="0"/>
                  </a:moveTo>
                  <a:lnTo>
                    <a:pt x="7040880" y="0"/>
                  </a:lnTo>
                  <a:lnTo>
                    <a:pt x="7040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4335" b="-16433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7040880" cy="64960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en-US" sz="2550" b="1" dirty="0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40% - unknown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60120" y="7748968"/>
            <a:ext cx="5280660" cy="453200"/>
            <a:chOff x="0" y="-19050"/>
            <a:chExt cx="7040880" cy="60426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040880" cy="585216"/>
            </a:xfrm>
            <a:custGeom>
              <a:avLst/>
              <a:gdLst/>
              <a:ahLst/>
              <a:cxnLst/>
              <a:rect l="l" t="t" r="r" b="b"/>
              <a:pathLst>
                <a:path w="7040880" h="585216">
                  <a:moveTo>
                    <a:pt x="0" y="0"/>
                  </a:moveTo>
                  <a:lnTo>
                    <a:pt x="7040880" y="0"/>
                  </a:lnTo>
                  <a:lnTo>
                    <a:pt x="7040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84429" b="-184429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7040880" cy="604266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 b="1" dirty="0">
                  <a:latin typeface="Arial Bold"/>
                  <a:ea typeface="Arial Bold"/>
                  <a:cs typeface="Arial Bold"/>
                  <a:sym typeface="Arial Bold"/>
                  <a:rtl/>
                </a:rPr>
                <a:t>מהמדגם באזור אי-הוודאות, גם למתייג אנושי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36" name="Picture 35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42112"/>
            <a:chOff x="0" y="0"/>
            <a:chExt cx="21744432" cy="989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989482"/>
            </a:xfrm>
            <a:custGeom>
              <a:avLst/>
              <a:gdLst/>
              <a:ahLst/>
              <a:cxnLst/>
              <a:rect l="l" t="t" r="r" b="b"/>
              <a:pathLst>
                <a:path w="21744432" h="989482">
                  <a:moveTo>
                    <a:pt x="0" y="0"/>
                  </a:moveTo>
                  <a:lnTo>
                    <a:pt x="21744432" y="0"/>
                  </a:lnTo>
                  <a:lnTo>
                    <a:pt x="21744432" y="989482"/>
                  </a:lnTo>
                  <a:lnTo>
                    <a:pt x="0" y="9894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81988" b="-37440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98948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680"/>
                </a:lnSpc>
              </a:pPr>
              <a:r>
                <a:rPr lang="he-IL" sz="390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העשרת פיצ'רים ספציפיים-איראניים, הפריצה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Iran_POI   </a:t>
              </a:r>
              <a:r>
                <a:rPr lang="he-IL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תוצאות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7552" y="2125980"/>
            <a:ext cx="11315700" cy="4385976"/>
            <a:chOff x="0" y="0"/>
            <a:chExt cx="15087600" cy="5847969"/>
          </a:xfrm>
        </p:grpSpPr>
        <p:sp>
          <p:nvSpPr>
            <p:cNvPr id="18" name="Freeform 18" descr="media/image10.png"/>
            <p:cNvSpPr/>
            <p:nvPr/>
          </p:nvSpPr>
          <p:spPr>
            <a:xfrm>
              <a:off x="0" y="0"/>
              <a:ext cx="15087600" cy="5847969"/>
            </a:xfrm>
            <a:custGeom>
              <a:avLst/>
              <a:gdLst/>
              <a:ahLst/>
              <a:cxnLst/>
              <a:rect l="l" t="t" r="r" b="b"/>
              <a:pathLst>
                <a:path w="15087600" h="5847969">
                  <a:moveTo>
                    <a:pt x="0" y="0"/>
                  </a:moveTo>
                  <a:lnTo>
                    <a:pt x="15087600" y="0"/>
                  </a:lnTo>
                  <a:lnTo>
                    <a:pt x="15087600" y="5847969"/>
                  </a:lnTo>
                  <a:lnTo>
                    <a:pt x="0" y="584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" b="-1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769596" y="2111692"/>
            <a:ext cx="4526280" cy="425768"/>
            <a:chOff x="0" y="-19050"/>
            <a:chExt cx="6035040" cy="5676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35040" cy="548640"/>
            </a:xfrm>
            <a:custGeom>
              <a:avLst/>
              <a:gdLst/>
              <a:ahLst/>
              <a:cxnLst/>
              <a:rect l="l" t="t" r="r" b="b"/>
              <a:pathLst>
                <a:path w="6035040" h="5486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4335" b="-16433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603504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he-IL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הרעיון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769596" y="2570321"/>
            <a:ext cx="4526280" cy="1544479"/>
            <a:chOff x="0" y="-47625"/>
            <a:chExt cx="6035040" cy="205930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35040" cy="2011680"/>
            </a:xfrm>
            <a:custGeom>
              <a:avLst/>
              <a:gdLst/>
              <a:ahLst/>
              <a:cxnLst/>
              <a:rect l="l" t="t" r="r" b="b"/>
              <a:pathLst>
                <a:path w="6035040" h="201168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455" b="-845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6035040" cy="205930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275"/>
                </a:lnSpc>
              </a:pPr>
              <a:r>
                <a:rPr lang="he-IL" sz="2374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לקסיקון ספציפי-איראני על הביו והציוצים, ישויות, מקומות ושפה, במקום להוסיף עוד ועוד דאטה.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597239" y="4251960"/>
            <a:ext cx="4698637" cy="754380"/>
            <a:chOff x="-229809" y="0"/>
            <a:chExt cx="6264849" cy="1005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6910" b="-6691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229809" y="7710"/>
              <a:ext cx="6264849" cy="96184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0.76 </a:t>
              </a:r>
              <a:r>
                <a:rPr lang="he-IL" sz="36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עד </a:t>
              </a:r>
              <a:r>
                <a:rPr lang="en-US" sz="36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0.89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769596" y="4950904"/>
            <a:ext cx="4526280" cy="425768"/>
            <a:chOff x="0" y="-19050"/>
            <a:chExt cx="6035040" cy="56769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035040" cy="548640"/>
            </a:xfrm>
            <a:custGeom>
              <a:avLst/>
              <a:gdLst/>
              <a:ahLst/>
              <a:cxnLst/>
              <a:rect l="l" t="t" r="r" b="b"/>
              <a:pathLst>
                <a:path w="6035040" h="5486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4335" b="-16433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603504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AUC</a:t>
              </a:r>
              <a:r>
                <a:rPr lang="he-IL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של </a:t>
              </a:r>
              <a:r>
                <a:rPr lang="en-US" sz="1800" dirty="0" err="1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target_population</a:t>
              </a:r>
              <a:endParaRPr lang="en-US" sz="180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8027" y="6642735"/>
            <a:ext cx="16341090" cy="1253490"/>
            <a:chOff x="0" y="0"/>
            <a:chExt cx="21788120" cy="16713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788120" cy="1671320"/>
            </a:xfrm>
            <a:custGeom>
              <a:avLst/>
              <a:gdLst/>
              <a:ahLst/>
              <a:cxnLst/>
              <a:rect l="l" t="t" r="r" b="b"/>
              <a:pathLst>
                <a:path w="21788120" h="1671320">
                  <a:moveTo>
                    <a:pt x="0" y="111379"/>
                  </a:moveTo>
                  <a:cubicBezTo>
                    <a:pt x="0" y="49911"/>
                    <a:pt x="49911" y="0"/>
                    <a:pt x="111379" y="0"/>
                  </a:cubicBezTo>
                  <a:lnTo>
                    <a:pt x="21676740" y="0"/>
                  </a:lnTo>
                  <a:cubicBezTo>
                    <a:pt x="21738335" y="0"/>
                    <a:pt x="21788120" y="49911"/>
                    <a:pt x="21788120" y="111379"/>
                  </a:cubicBezTo>
                  <a:lnTo>
                    <a:pt x="21788120" y="1559941"/>
                  </a:lnTo>
                  <a:cubicBezTo>
                    <a:pt x="21788120" y="1621536"/>
                    <a:pt x="21738208" y="1671320"/>
                    <a:pt x="21676740" y="1671320"/>
                  </a:cubicBezTo>
                  <a:lnTo>
                    <a:pt x="111379" y="1671320"/>
                  </a:lnTo>
                  <a:cubicBezTo>
                    <a:pt x="49784" y="1671320"/>
                    <a:pt x="0" y="1621409"/>
                    <a:pt x="0" y="1559941"/>
                  </a:cubicBezTo>
                  <a:close/>
                </a:path>
              </a:pathLst>
            </a:custGeom>
            <a:solidFill>
              <a:srgbClr val="8F3340"/>
            </a:solidFill>
            <a:ln w="19050" cap="sq">
              <a:solidFill>
                <a:srgbClr val="8F334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99032" y="6890861"/>
            <a:ext cx="15499080" cy="790099"/>
            <a:chOff x="0" y="-47625"/>
            <a:chExt cx="20665440" cy="105346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665439" cy="1005840"/>
            </a:xfrm>
            <a:custGeom>
              <a:avLst/>
              <a:gdLst/>
              <a:ahLst/>
              <a:cxnLst/>
              <a:rect l="l" t="t" r="r" b="b"/>
              <a:pathLst>
                <a:path w="20665439" h="1005840">
                  <a:moveTo>
                    <a:pt x="0" y="0"/>
                  </a:moveTo>
                  <a:lnTo>
                    <a:pt x="20665439" y="0"/>
                  </a:lnTo>
                  <a:lnTo>
                    <a:pt x="206654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50328" b="-35032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20665440" cy="105346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00"/>
                </a:lnSpc>
              </a:pPr>
              <a:r>
                <a:rPr lang="he-IL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פיצ'רים גוברים על דאטה.  אותה כמות דוגמאות, ייצוג טוב יותר, וזה מה ששבר את תקרת הרוויה. הפיצ'רים הבסיסיים צונחים מ-</a:t>
              </a:r>
              <a:r>
                <a:rPr lang="en-US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0.90</a:t>
              </a:r>
              <a:r>
                <a:rPr lang="he-IL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ל-</a:t>
              </a:r>
              <a:r>
                <a:rPr lang="en-US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0.73</a:t>
              </a:r>
              <a:r>
                <a:rPr lang="he-IL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לאורך האיטרציות; המועשרים נשארים גבוהים.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40" name="Picture 39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744432" cy="4579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endParaRPr lang="en-US" sz="1800" b="1" spc="149" dirty="0">
                <a:solidFill>
                  <a:srgbClr val="C8102E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42112"/>
            <a:chOff x="0" y="0"/>
            <a:chExt cx="21744432" cy="989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989482"/>
            </a:xfrm>
            <a:custGeom>
              <a:avLst/>
              <a:gdLst/>
              <a:ahLst/>
              <a:cxnLst/>
              <a:rect l="l" t="t" r="r" b="b"/>
              <a:pathLst>
                <a:path w="21744432" h="989482">
                  <a:moveTo>
                    <a:pt x="0" y="0"/>
                  </a:moveTo>
                  <a:lnTo>
                    <a:pt x="21744432" y="0"/>
                  </a:lnTo>
                  <a:lnTo>
                    <a:pt x="21744432" y="989482"/>
                  </a:lnTo>
                  <a:lnTo>
                    <a:pt x="0" y="9894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81988" b="-37440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98948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680"/>
                </a:lnSpc>
              </a:pPr>
              <a:r>
                <a:rPr lang="he-IL" sz="3900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סף </a:t>
              </a:r>
              <a:r>
                <a:rPr lang="en-US" sz="3900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</a:rPr>
                <a:t>0.8</a:t>
              </a:r>
              <a:r>
                <a:rPr lang="he-IL" sz="3900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 מזהה </a:t>
              </a:r>
              <a:r>
                <a:rPr lang="en-US" sz="3900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</a:rPr>
                <a:t>173</a:t>
              </a:r>
              <a:r>
                <a:rPr lang="he-IL" sz="3900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 </a:t>
              </a:r>
              <a:r>
                <a:rPr lang="he-IL" sz="3900" dirty="0" err="1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יוזרים</a:t>
              </a:r>
              <a:r>
                <a:rPr lang="he-IL" sz="3900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 ב-</a:t>
              </a:r>
              <a:r>
                <a:rPr lang="en-US" sz="3900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</a:rPr>
                <a:t>Hit Rate</a:t>
              </a:r>
              <a:r>
                <a:rPr lang="he-IL" sz="3900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 של כ-</a:t>
              </a:r>
              <a:r>
                <a:rPr lang="en-US" sz="3900" dirty="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</a:rPr>
                <a:t>90%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7552" y="2057400"/>
            <a:ext cx="8229600" cy="4572000"/>
            <a:chOff x="0" y="0"/>
            <a:chExt cx="10972800" cy="6096000"/>
          </a:xfrm>
        </p:grpSpPr>
        <p:sp>
          <p:nvSpPr>
            <p:cNvPr id="15" name="Freeform 15" descr="media/image11.png"/>
            <p:cNvSpPr/>
            <p:nvPr/>
          </p:nvSpPr>
          <p:spPr>
            <a:xfrm>
              <a:off x="0" y="0"/>
              <a:ext cx="10972800" cy="6096000"/>
            </a:xfrm>
            <a:custGeom>
              <a:avLst/>
              <a:gdLst/>
              <a:ahLst/>
              <a:cxnLst/>
              <a:rect l="l" t="t" r="r" b="b"/>
              <a:pathLst>
                <a:path w="10972800" h="60960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52076" y="2130266"/>
            <a:ext cx="7543800" cy="2121694"/>
            <a:chOff x="0" y="-85725"/>
            <a:chExt cx="10058400" cy="28289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58400" cy="2743200"/>
            </a:xfrm>
            <a:custGeom>
              <a:avLst/>
              <a:gdLst/>
              <a:ahLst/>
              <a:cxnLst/>
              <a:rect l="l" t="t" r="r" b="b"/>
              <a:pathLst>
                <a:path w="10058400" h="2743200">
                  <a:moveTo>
                    <a:pt x="0" y="0"/>
                  </a:moveTo>
                  <a:lnTo>
                    <a:pt x="10058400" y="0"/>
                  </a:lnTo>
                  <a:lnTo>
                    <a:pt x="100584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445" b="-2144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10058400" cy="282892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marL="393621" lvl="1" indent="-196810" algn="just" rtl="1">
                <a:lnSpc>
                  <a:spcPts val="3300"/>
                </a:lnSpc>
                <a:buFont typeface="Arial"/>
                <a:buChar char="•"/>
              </a:pPr>
              <a:r>
                <a:rPr lang="he-IL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המודל הסופי על כל </a:t>
              </a:r>
              <a:r>
                <a:rPr lang="en-US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946</a:t>
              </a:r>
              <a:r>
                <a:rPr lang="he-IL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he-IL" sz="2175" b="1" dirty="0" err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היוזרים</a:t>
              </a:r>
              <a:r>
                <a:rPr lang="he-IL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; בסף </a:t>
              </a:r>
              <a:r>
                <a:rPr lang="en-US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0.8</a:t>
              </a:r>
              <a:r>
                <a:rPr lang="he-IL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נכללים </a:t>
              </a:r>
              <a:r>
                <a:rPr lang="en-US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173</a:t>
              </a:r>
              <a:r>
                <a:rPr lang="he-IL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he-IL" sz="2175" b="1" dirty="0" err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יוזרים</a:t>
              </a:r>
              <a:r>
                <a:rPr lang="he-IL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באוכלוסיית היעד</a:t>
              </a:r>
            </a:p>
            <a:p>
              <a:pPr marL="393621" lvl="1" indent="-196810" algn="just" rtl="1">
                <a:lnSpc>
                  <a:spcPts val="3300"/>
                </a:lnSpc>
                <a:buFont typeface="Arial"/>
                <a:buChar char="•"/>
              </a:pPr>
              <a:r>
                <a:rPr lang="he-IL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מדגם מעל הסף עבר אימות ידני עיוור לחישוב </a:t>
              </a:r>
              <a:r>
                <a:rPr lang="en-US" sz="217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Hit Rate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52076" y="4306252"/>
            <a:ext cx="7543800" cy="425768"/>
            <a:chOff x="0" y="-19050"/>
            <a:chExt cx="10058400" cy="5676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58400" cy="548640"/>
            </a:xfrm>
            <a:custGeom>
              <a:avLst/>
              <a:gdLst/>
              <a:ahLst/>
              <a:cxnLst/>
              <a:rect l="l" t="t" r="r" b="b"/>
              <a:pathLst>
                <a:path w="10058400" h="54864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07225" b="-30722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05840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he-IL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למה </a:t>
              </a:r>
              <a:r>
                <a:rPr lang="en-US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0.8</a:t>
              </a:r>
              <a:r>
                <a:rPr lang="ar-EG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?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89571" y="4772025"/>
            <a:ext cx="8360519" cy="988695"/>
            <a:chOff x="0" y="-38100"/>
            <a:chExt cx="11147359" cy="13182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869168" cy="1280160"/>
            </a:xfrm>
            <a:custGeom>
              <a:avLst/>
              <a:gdLst/>
              <a:ahLst/>
              <a:cxnLst/>
              <a:rect l="l" t="t" r="r" b="b"/>
              <a:pathLst>
                <a:path w="10869168" h="1280160">
                  <a:moveTo>
                    <a:pt x="0" y="0"/>
                  </a:moveTo>
                  <a:lnTo>
                    <a:pt x="10869168" y="0"/>
                  </a:lnTo>
                  <a:lnTo>
                    <a:pt x="1086916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3096" r="7459" b="-103096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8191" y="-38100"/>
              <a:ext cx="10869168" cy="131826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בסף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0.9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אף משתמש לא עובר; בסף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0.7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נכנסים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238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אך הדיוק מדולל;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0.8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הוא האיזון בין כיסוי לדיוק.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57816" y="6082189"/>
            <a:ext cx="3566160" cy="775811"/>
            <a:chOff x="0" y="-28575"/>
            <a:chExt cx="4754880" cy="103441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54880" cy="1005840"/>
            </a:xfrm>
            <a:custGeom>
              <a:avLst/>
              <a:gdLst/>
              <a:ahLst/>
              <a:cxnLst/>
              <a:rect l="l" t="t" r="r" b="b"/>
              <a:pathLst>
                <a:path w="4754880" h="100584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2111" b="-4211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4754880" cy="103441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400"/>
                </a:lnSpc>
              </a:pPr>
              <a:r>
                <a:rPr lang="en-US" sz="45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85.7%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57816" y="6802564"/>
            <a:ext cx="3566160" cy="425768"/>
            <a:chOff x="0" y="-19050"/>
            <a:chExt cx="4754880" cy="56769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8870" b="-11887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75488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Hit Rate</a:t>
              </a:r>
              <a:r>
                <a:rPr lang="he-IL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עיוור (</a:t>
              </a:r>
              <a:r>
                <a:rPr 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unseen</a:t>
              </a:r>
              <a:r>
                <a:rPr lang="ar-EG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729716" y="6082189"/>
            <a:ext cx="3566160" cy="775811"/>
            <a:chOff x="0" y="-28575"/>
            <a:chExt cx="4754880" cy="103441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54880" cy="1005840"/>
            </a:xfrm>
            <a:custGeom>
              <a:avLst/>
              <a:gdLst/>
              <a:ahLst/>
              <a:cxnLst/>
              <a:rect l="l" t="t" r="r" b="b"/>
              <a:pathLst>
                <a:path w="4754880" h="100584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2111" b="-4211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4754880" cy="103441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400"/>
                </a:lnSpc>
              </a:pPr>
              <a:r>
                <a:rPr lang="en-US" sz="45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90%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729716" y="6802564"/>
            <a:ext cx="3566160" cy="425768"/>
            <a:chOff x="0" y="-19050"/>
            <a:chExt cx="4754880" cy="5676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8870" b="-11887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475488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Hit Rate</a:t>
              </a:r>
              <a:r>
                <a:rPr lang="he-IL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מלא (</a:t>
              </a:r>
              <a:r>
                <a:rPr 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173</a:t>
              </a:r>
              <a:r>
                <a:rPr lang="ar-EG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23078" y="7203077"/>
            <a:ext cx="11108868" cy="2008875"/>
            <a:chOff x="-701522" y="-399142"/>
            <a:chExt cx="10929254" cy="2061641"/>
          </a:xfrm>
        </p:grpSpPr>
        <p:sp>
          <p:nvSpPr>
            <p:cNvPr id="38" name="Freeform 38"/>
            <p:cNvSpPr/>
            <p:nvPr/>
          </p:nvSpPr>
          <p:spPr>
            <a:xfrm>
              <a:off x="-701522" y="-399142"/>
              <a:ext cx="10929254" cy="2061641"/>
            </a:xfrm>
            <a:custGeom>
              <a:avLst/>
              <a:gdLst/>
              <a:ahLst/>
              <a:cxnLst/>
              <a:rect l="l" t="t" r="r" b="b"/>
              <a:pathLst>
                <a:path w="10058400" h="960977">
                  <a:moveTo>
                    <a:pt x="0" y="0"/>
                  </a:moveTo>
                  <a:lnTo>
                    <a:pt x="10058400" y="0"/>
                  </a:lnTo>
                  <a:lnTo>
                    <a:pt x="10058400" y="960977"/>
                  </a:lnTo>
                  <a:lnTo>
                    <a:pt x="0" y="9609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70643" b="-13725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-423334" y="-9525"/>
              <a:ext cx="10481734" cy="97050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430"/>
                </a:lnSpc>
              </a:pPr>
              <a:r>
                <a:rPr lang="he-IL" sz="2025" b="1" i="1">
                  <a:solidFill>
                    <a:srgbClr val="10552B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  <a:rtl/>
                </a:rPr>
                <a:t>עומד ביעד, מעל </a:t>
              </a:r>
              <a:r>
                <a:rPr lang="en-US" sz="2025" b="1" i="1">
                  <a:solidFill>
                    <a:srgbClr val="10552B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85%</a:t>
              </a:r>
              <a:r>
                <a:rPr lang="he-IL" sz="2025" b="1" i="1">
                  <a:solidFill>
                    <a:srgbClr val="10552B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  <a:rtl/>
                </a:rPr>
                <a:t>. האוכלוסייה שנבחרה בסף </a:t>
              </a:r>
              <a:r>
                <a:rPr lang="en-US" sz="2025" b="1" i="1">
                  <a:solidFill>
                    <a:srgbClr val="10552B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0.8</a:t>
              </a:r>
              <a:r>
                <a:rPr lang="he-IL" sz="2025" b="1" i="1">
                  <a:solidFill>
                    <a:srgbClr val="10552B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  <a:rtl/>
                </a:rPr>
                <a:t> באמת איראנית ברובה המכריע.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33" name="Picture 32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744432" cy="45796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endParaRPr lang="en-US" sz="1800" b="1" spc="149" dirty="0">
                <a:solidFill>
                  <a:srgbClr val="C8102E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55523"/>
            <a:chOff x="0" y="0"/>
            <a:chExt cx="21744432" cy="10073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1007364"/>
            </a:xfrm>
            <a:custGeom>
              <a:avLst/>
              <a:gdLst/>
              <a:ahLst/>
              <a:cxnLst/>
              <a:rect l="l" t="t" r="r" b="b"/>
              <a:pathLst>
                <a:path w="21744432" h="1007364">
                  <a:moveTo>
                    <a:pt x="0" y="0"/>
                  </a:moveTo>
                  <a:lnTo>
                    <a:pt x="21744432" y="0"/>
                  </a:lnTo>
                  <a:lnTo>
                    <a:pt x="21744432" y="1007364"/>
                  </a:lnTo>
                  <a:lnTo>
                    <a:pt x="0" y="10073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75208" b="-365979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100736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799"/>
                </a:lnSpc>
              </a:pPr>
              <a:r>
                <a:rPr lang="he-IL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ה-</a:t>
              </a:r>
              <a:r>
                <a:rPr lang="en-US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</a:rPr>
                <a:t>LLM</a:t>
              </a:r>
              <a:r>
                <a:rPr lang="he-IL" sz="39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 מדרג כמו המודל שלנו, אבל מסרב להכריע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8915400" y="2125980"/>
          <a:ext cx="8343900" cy="3352800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he-IL" sz="225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מדד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he-IL" sz="225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המודל המאומן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LLM, Claude Opus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1055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Accuracy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C8102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0.95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0.53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1055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F1 (macro)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C8102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0.93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0.49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1055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AUC (</a:t>
                      </a:r>
                      <a:r>
                        <a:rPr lang="he-IL" sz="2400" b="1">
                          <a:solidFill>
                            <a:srgbClr val="1055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  <a:rtl/>
                        </a:rPr>
                        <a:t>דירוג</a:t>
                      </a:r>
                      <a:r>
                        <a:rPr lang="en-US" sz="2400" b="1">
                          <a:solidFill>
                            <a:srgbClr val="1055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)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" name="Group 18"/>
          <p:cNvGrpSpPr/>
          <p:nvPr/>
        </p:nvGrpSpPr>
        <p:grpSpPr>
          <a:xfrm>
            <a:off x="987552" y="2111692"/>
            <a:ext cx="7406640" cy="425768"/>
            <a:chOff x="0" y="-19050"/>
            <a:chExt cx="9875520" cy="5676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75520" cy="548640"/>
            </a:xfrm>
            <a:custGeom>
              <a:avLst/>
              <a:gdLst/>
              <a:ahLst/>
              <a:cxnLst/>
              <a:rect l="l" t="t" r="r" b="b"/>
              <a:pathLst>
                <a:path w="9875520" h="54864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00730" b="-30073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987552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he-IL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למה ה-</a:t>
              </a:r>
              <a:r>
                <a:rPr lang="en-US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AUC</a:t>
              </a:r>
              <a:r>
                <a:rPr lang="he-IL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שווה?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2341" y="2563177"/>
            <a:ext cx="7561851" cy="1551623"/>
            <a:chOff x="0" y="-57150"/>
            <a:chExt cx="10082468" cy="20688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082468" cy="2011680"/>
            </a:xfrm>
            <a:custGeom>
              <a:avLst/>
              <a:gdLst/>
              <a:ahLst/>
              <a:cxnLst/>
              <a:rect l="l" t="t" r="r" b="b"/>
              <a:pathLst>
                <a:path w="10082468" h="2011680">
                  <a:moveTo>
                    <a:pt x="0" y="0"/>
                  </a:moveTo>
                  <a:lnTo>
                    <a:pt x="10082468" y="0"/>
                  </a:lnTo>
                  <a:lnTo>
                    <a:pt x="1008246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5653" r="2052" b="-4565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0082468" cy="206883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149"/>
                </a:lnSpc>
              </a:pPr>
              <a:r>
                <a:rPr lang="he-IL" sz="225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ה-</a:t>
              </a:r>
              <a:r>
                <a:rPr lang="en-US" sz="225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</a:t>
              </a:r>
              <a:r>
                <a:rPr lang="he-IL" sz="225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מדרג היטב מי שייך ליעד, אבל מסרב להכריע ומסמן </a:t>
              </a:r>
              <a:r>
                <a:rPr lang="en-US" sz="225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unknown</a:t>
              </a:r>
              <a:r>
                <a:rPr lang="he-IL" sz="225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. מסווג אוטומטי שלא מכריע הוא חסר ערך, וזו בדיוק הסיבה שהוא כושל.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87552" y="4237672"/>
            <a:ext cx="7406640" cy="425768"/>
            <a:chOff x="0" y="-19050"/>
            <a:chExt cx="9875520" cy="5676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875520" cy="548640"/>
            </a:xfrm>
            <a:custGeom>
              <a:avLst/>
              <a:gdLst/>
              <a:ahLst/>
              <a:cxnLst/>
              <a:rect l="l" t="t" r="r" b="b"/>
              <a:pathLst>
                <a:path w="9875520" h="54864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00730" b="-30073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9875520" cy="56769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340"/>
                </a:lnSpc>
              </a:pPr>
              <a:r>
                <a:rPr lang="he-IL" sz="195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השוואה הוגנת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7552" y="4660582"/>
            <a:ext cx="7406640" cy="2128838"/>
            <a:chOff x="0" y="-95250"/>
            <a:chExt cx="9875520" cy="28384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875520" cy="2743200"/>
            </a:xfrm>
            <a:custGeom>
              <a:avLst/>
              <a:gdLst/>
              <a:ahLst/>
              <a:cxnLst/>
              <a:rect l="l" t="t" r="r" b="b"/>
              <a:pathLst>
                <a:path w="9875520" h="2743200">
                  <a:moveTo>
                    <a:pt x="0" y="0"/>
                  </a:moveTo>
                  <a:lnTo>
                    <a:pt x="9875520" y="0"/>
                  </a:lnTo>
                  <a:lnTo>
                    <a:pt x="98755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146" b="-20146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9875520" cy="2838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300"/>
                </a:lnSpc>
              </a:pPr>
              <a:r>
                <a:rPr lang="he-IL" sz="2025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אותו סט מבחן, ללא תשובות, ללא דליפה</a:t>
              </a:r>
            </a:p>
            <a:p>
              <a:pPr algn="r" rtl="1">
                <a:lnSpc>
                  <a:spcPts val="3300"/>
                </a:lnSpc>
              </a:pPr>
              <a:r>
                <a:rPr lang="en-US" sz="2025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</a:t>
              </a:r>
              <a:r>
                <a:rPr lang="he-IL" sz="2025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ריצות עיוורות והכרעת רוב</a:t>
              </a:r>
            </a:p>
            <a:p>
              <a:pPr algn="r" rtl="1">
                <a:lnSpc>
                  <a:spcPts val="3300"/>
                </a:lnSpc>
              </a:pPr>
              <a:r>
                <a:rPr lang="en-US" sz="2025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Claude Opus</a:t>
              </a:r>
              <a:r>
                <a:rPr lang="he-IL" sz="2025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, מודל גבוה יותר לפי ההנחיות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87552" y="7172325"/>
            <a:ext cx="16308324" cy="851535"/>
            <a:chOff x="0" y="-38100"/>
            <a:chExt cx="21744432" cy="11353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744432" cy="1097280"/>
            </a:xfrm>
            <a:custGeom>
              <a:avLst/>
              <a:gdLst/>
              <a:ahLst/>
              <a:cxnLst/>
              <a:rect l="l" t="t" r="r" b="b"/>
              <a:pathLst>
                <a:path w="21744432" h="1097280">
                  <a:moveTo>
                    <a:pt x="0" y="0"/>
                  </a:moveTo>
                  <a:lnTo>
                    <a:pt x="21744432" y="0"/>
                  </a:lnTo>
                  <a:lnTo>
                    <a:pt x="217444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36128" b="-33612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744432" cy="113538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685"/>
                </a:lnSpc>
              </a:pP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 = 19</a:t>
              </a:r>
              <a:r>
                <a:rPr lang="he-IL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יוזרי </a:t>
              </a: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hold-out</a:t>
              </a:r>
              <a:r>
                <a:rPr lang="he-IL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ודאיים (</a:t>
              </a: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</a:t>
              </a:r>
              <a:r>
                <a:rPr lang="ar-EG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</a:t>
              </a: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non-target, 4 target</a:t>
              </a:r>
              <a:r>
                <a:rPr lang="ar-EG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). </a:t>
              </a: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Recall</a:t>
              </a:r>
              <a:r>
                <a:rPr lang="he-IL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ו-</a:t>
              </a: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Precision</a:t>
              </a:r>
              <a:r>
                <a:rPr lang="he-IL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הם </a:t>
              </a: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macro</a:t>
              </a:r>
              <a:r>
                <a:rPr lang="he-IL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, כלומר ממוצע על שתי המחלקות; עם </a:t>
              </a: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  <a:r>
                <a:rPr lang="he-IL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חיוביים בלבד המדדים גסים, וההשוואה המשמעותית היא הפער בין </a:t>
              </a: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Accuracy</a:t>
              </a:r>
              <a:r>
                <a:rPr lang="he-IL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ל-</a:t>
              </a:r>
              <a:r>
                <a:rPr lang="en-US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AUC</a:t>
              </a:r>
              <a:r>
                <a:rPr lang="he-IL" sz="19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, לא הערך המוחלט.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32" name="Picture 31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561784"/>
            <a:ext cx="16308324" cy="343472"/>
            <a:chOff x="0" y="-19050"/>
            <a:chExt cx="21744432" cy="457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438912"/>
            </a:xfrm>
            <a:custGeom>
              <a:avLst/>
              <a:gdLst/>
              <a:ahLst/>
              <a:cxnLst/>
              <a:rect l="l" t="t" r="r" b="b"/>
              <a:pathLst>
                <a:path w="21744432" h="438912">
                  <a:moveTo>
                    <a:pt x="0" y="0"/>
                  </a:moveTo>
                  <a:lnTo>
                    <a:pt x="21744432" y="0"/>
                  </a:lnTo>
                  <a:lnTo>
                    <a:pt x="21744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15321" b="-91532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552" y="932688"/>
            <a:ext cx="16308324" cy="742112"/>
            <a:chOff x="0" y="0"/>
            <a:chExt cx="21744432" cy="989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4432" cy="989482"/>
            </a:xfrm>
            <a:custGeom>
              <a:avLst/>
              <a:gdLst/>
              <a:ahLst/>
              <a:cxnLst/>
              <a:rect l="l" t="t" r="r" b="b"/>
              <a:pathLst>
                <a:path w="21744432" h="989482">
                  <a:moveTo>
                    <a:pt x="0" y="0"/>
                  </a:moveTo>
                  <a:lnTo>
                    <a:pt x="21744432" y="0"/>
                  </a:lnTo>
                  <a:lnTo>
                    <a:pt x="21744432" y="989482"/>
                  </a:lnTo>
                  <a:lnTo>
                    <a:pt x="0" y="9894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81988" b="-37440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44432" cy="989482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4680"/>
                </a:lnSpc>
              </a:pPr>
              <a:r>
                <a:rPr lang="he-IL" sz="390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האשכולות העשירים ב-</a:t>
              </a:r>
              <a:r>
                <a:rPr lang="en-US" sz="390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</a:rPr>
                <a:t>target</a:t>
              </a:r>
              <a:r>
                <a:rPr lang="he-IL" sz="3900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 הם בדיוק האיראנים המקומיים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Iran_POI   </a:t>
              </a:r>
              <a:r>
                <a:rPr lang="he-IL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תוצאות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22592" y="2057400"/>
            <a:ext cx="5609844" cy="4059936"/>
            <a:chOff x="0" y="0"/>
            <a:chExt cx="6766560" cy="5413248"/>
          </a:xfrm>
        </p:grpSpPr>
        <p:sp>
          <p:nvSpPr>
            <p:cNvPr id="18" name="Freeform 18" descr="media/image12.png"/>
            <p:cNvSpPr/>
            <p:nvPr/>
          </p:nvSpPr>
          <p:spPr>
            <a:xfrm>
              <a:off x="0" y="0"/>
              <a:ext cx="6766560" cy="5413248"/>
            </a:xfrm>
            <a:custGeom>
              <a:avLst/>
              <a:gdLst/>
              <a:ahLst/>
              <a:cxnLst/>
              <a:rect l="l" t="t" r="r" b="b"/>
              <a:pathLst>
                <a:path w="6766560" h="5413248">
                  <a:moveTo>
                    <a:pt x="0" y="0"/>
                  </a:moveTo>
                  <a:lnTo>
                    <a:pt x="6766560" y="0"/>
                  </a:lnTo>
                  <a:lnTo>
                    <a:pt x="6766560" y="5413248"/>
                  </a:lnTo>
                  <a:lnTo>
                    <a:pt x="0" y="5413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0" y="2057400"/>
            <a:ext cx="6679692" cy="4144708"/>
            <a:chOff x="0" y="0"/>
            <a:chExt cx="7589520" cy="4263771"/>
          </a:xfrm>
        </p:grpSpPr>
        <p:sp>
          <p:nvSpPr>
            <p:cNvPr id="20" name="Freeform 20" descr="media/image13.png"/>
            <p:cNvSpPr/>
            <p:nvPr/>
          </p:nvSpPr>
          <p:spPr>
            <a:xfrm>
              <a:off x="0" y="0"/>
              <a:ext cx="7589520" cy="4263771"/>
            </a:xfrm>
            <a:custGeom>
              <a:avLst/>
              <a:gdLst/>
              <a:ahLst/>
              <a:cxnLst/>
              <a:rect l="l" t="t" r="r" b="b"/>
              <a:pathLst>
                <a:path w="7589520" h="4263771">
                  <a:moveTo>
                    <a:pt x="0" y="0"/>
                  </a:moveTo>
                  <a:lnTo>
                    <a:pt x="7589520" y="0"/>
                  </a:lnTo>
                  <a:lnTo>
                    <a:pt x="7589520" y="4263771"/>
                  </a:lnTo>
                  <a:lnTo>
                    <a:pt x="0" y="4263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62" b="-62"/>
              </a:stretch>
            </a:blip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632436" y="2035969"/>
            <a:ext cx="4663440" cy="707231"/>
            <a:chOff x="0" y="-28575"/>
            <a:chExt cx="6217920" cy="9429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2498" b="-8249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6217920" cy="942975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5400"/>
                </a:lnSpc>
              </a:pPr>
              <a:r>
                <a:rPr lang="en-US" sz="45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 = 8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117255" y="2745621"/>
            <a:ext cx="4663440" cy="2265998"/>
            <a:chOff x="0" y="-95250"/>
            <a:chExt cx="6217920" cy="3021330"/>
          </a:xfrm>
        </p:grpSpPr>
        <p:sp>
          <p:nvSpPr>
            <p:cNvPr id="25" name="Freeform 25"/>
            <p:cNvSpPr/>
            <p:nvPr/>
          </p:nvSpPr>
          <p:spPr>
            <a:xfrm>
              <a:off x="0" y="1"/>
              <a:ext cx="6217920" cy="2926079"/>
            </a:xfrm>
            <a:custGeom>
              <a:avLst/>
              <a:gdLst/>
              <a:ahLst/>
              <a:cxnLst/>
              <a:rect l="l" t="t" r="r" b="b"/>
              <a:pathLst>
                <a:path w="6217920" h="2926080">
                  <a:moveTo>
                    <a:pt x="0" y="0"/>
                  </a:moveTo>
                  <a:lnTo>
                    <a:pt x="6217920" y="0"/>
                  </a:lnTo>
                  <a:lnTo>
                    <a:pt x="62179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378" r="-10378"/>
              </a:stretch>
            </a:blipFill>
            <a:ln/>
          </p:spPr>
          <p:txBody>
            <a:bodyPr/>
            <a:lstStyle/>
            <a:p>
              <a:pPr marL="0" algn="r" defTabSz="914400" rtl="1" eaLnBrk="1" latinLnBrk="0" hangingPunct="1"/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6217920" cy="302133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marL="366474" lvl="1" indent="-183237" algn="just" rtl="1">
                <a:lnSpc>
                  <a:spcPts val="3300"/>
                </a:lnSpc>
                <a:buFont typeface="Arial"/>
                <a:buChar char="•"/>
              </a:pPr>
              <a:r>
                <a:rPr lang="he-IL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אופטימלי לפי </a:t>
              </a:r>
              <a:r>
                <a:rPr lang="en-US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Elbow</a:t>
              </a:r>
              <a:r>
                <a:rPr lang="he-IL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ו-</a:t>
              </a:r>
              <a:r>
                <a:rPr lang="en-US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Silhouette (0.30)</a:t>
              </a:r>
            </a:p>
            <a:p>
              <a:pPr marL="366474" lvl="1" indent="-183237" algn="just" rtl="1">
                <a:lnSpc>
                  <a:spcPts val="3300"/>
                </a:lnSpc>
                <a:buFont typeface="Arial"/>
                <a:buChar char="•"/>
              </a:pPr>
              <a:r>
                <a:rPr lang="he-IL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יציבות: </a:t>
              </a:r>
              <a:r>
                <a:rPr lang="en-US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ARI</a:t>
              </a:r>
              <a:r>
                <a:rPr lang="he-IL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שווה </a:t>
              </a:r>
              <a:r>
                <a:rPr lang="en-US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0.73</a:t>
              </a:r>
            </a:p>
            <a:p>
              <a:pPr marL="366474" lvl="1" indent="-183237" algn="just" rtl="1">
                <a:lnSpc>
                  <a:spcPts val="3300"/>
                </a:lnSpc>
                <a:buFont typeface="Arial"/>
                <a:buChar char="•"/>
              </a:pPr>
              <a:r>
                <a:rPr lang="he-IL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האשכולות העשירים ב-</a:t>
              </a:r>
              <a:r>
                <a:rPr lang="en-US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</a:t>
              </a:r>
              <a:r>
                <a:rPr lang="he-IL" sz="2025" b="1" dirty="0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הם בדיוק האיראנים המקומיים והמוצהרים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8027" y="6299835"/>
            <a:ext cx="16341090" cy="1322070"/>
            <a:chOff x="0" y="0"/>
            <a:chExt cx="21788120" cy="17627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88120" cy="1762760"/>
            </a:xfrm>
            <a:custGeom>
              <a:avLst/>
              <a:gdLst/>
              <a:ahLst/>
              <a:cxnLst/>
              <a:rect l="l" t="t" r="r" b="b"/>
              <a:pathLst>
                <a:path w="21788120" h="1762760">
                  <a:moveTo>
                    <a:pt x="0" y="111379"/>
                  </a:moveTo>
                  <a:cubicBezTo>
                    <a:pt x="0" y="49784"/>
                    <a:pt x="49784" y="0"/>
                    <a:pt x="111379" y="0"/>
                  </a:cubicBezTo>
                  <a:lnTo>
                    <a:pt x="21676740" y="0"/>
                  </a:lnTo>
                  <a:cubicBezTo>
                    <a:pt x="21738208" y="0"/>
                    <a:pt x="21788120" y="49784"/>
                    <a:pt x="21788120" y="111379"/>
                  </a:cubicBezTo>
                  <a:lnTo>
                    <a:pt x="21788120" y="1651381"/>
                  </a:lnTo>
                  <a:cubicBezTo>
                    <a:pt x="21788120" y="1712849"/>
                    <a:pt x="21738335" y="1762760"/>
                    <a:pt x="21676740" y="1762760"/>
                  </a:cubicBezTo>
                  <a:lnTo>
                    <a:pt x="111379" y="1762760"/>
                  </a:lnTo>
                  <a:cubicBezTo>
                    <a:pt x="49911" y="1762760"/>
                    <a:pt x="0" y="1712976"/>
                    <a:pt x="0" y="1651381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99032" y="6527673"/>
            <a:ext cx="15499080" cy="851535"/>
            <a:chOff x="0" y="-38100"/>
            <a:chExt cx="20665440" cy="11353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665439" cy="1097280"/>
            </a:xfrm>
            <a:custGeom>
              <a:avLst/>
              <a:gdLst/>
              <a:ahLst/>
              <a:cxnLst/>
              <a:rect l="l" t="t" r="r" b="b"/>
              <a:pathLst>
                <a:path w="20665439" h="1097280">
                  <a:moveTo>
                    <a:pt x="0" y="0"/>
                  </a:moveTo>
                  <a:lnTo>
                    <a:pt x="20665439" y="0"/>
                  </a:lnTo>
                  <a:lnTo>
                    <a:pt x="20665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16968" b="-31696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0665440" cy="113538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 dirty="0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שלוש על-קבוצות: חשבונות דלי-מידע או רדומים,  חשבונות מוסדיים או מדיה,  יחידים איראנים אותנטיים, העשירים ביותר באוכלוסיית היעד.</a:t>
              </a:r>
            </a:p>
            <a:p>
              <a:pPr algn="r" rtl="1">
                <a:lnSpc>
                  <a:spcPts val="2850"/>
                </a:lnSpc>
              </a:pPr>
              <a:r>
                <a:rPr lang="he-IL" sz="2100" b="1" dirty="0">
                  <a:solidFill>
                    <a:srgbClr val="10552B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אישוש עצמאי שהפיצ'רים נושאים אות אמיתי, לא רעש.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Picture 13" descr="bg-1-cov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87552" y="3400425"/>
            <a:ext cx="1645920" cy="1894098"/>
            <a:chOff x="0" y="-38100"/>
            <a:chExt cx="2194560" cy="2525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" cy="2487364"/>
            </a:xfrm>
            <a:custGeom>
              <a:avLst/>
              <a:gdLst/>
              <a:ahLst/>
              <a:cxnLst/>
              <a:rect l="l" t="t" r="r" b="b"/>
              <a:pathLst>
                <a:path w="2194560" h="2487364">
                  <a:moveTo>
                    <a:pt x="0" y="0"/>
                  </a:moveTo>
                  <a:lnTo>
                    <a:pt x="2194560" y="0"/>
                  </a:lnTo>
                  <a:lnTo>
                    <a:pt x="2194560" y="2487364"/>
                  </a:lnTo>
                  <a:lnTo>
                    <a:pt x="0" y="24873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6227" r="-46227" b="3382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94560" cy="252546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10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40652" y="898481"/>
            <a:ext cx="10972800" cy="1160984"/>
            <a:chOff x="0" y="0"/>
            <a:chExt cx="14630400" cy="154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1547978"/>
            </a:xfrm>
            <a:custGeom>
              <a:avLst/>
              <a:gdLst/>
              <a:ahLst/>
              <a:cxnLst/>
              <a:rect l="l" t="t" r="r" b="b"/>
              <a:pathLst>
                <a:path w="14630400" h="1547978">
                  <a:moveTo>
                    <a:pt x="0" y="0"/>
                  </a:moveTo>
                  <a:lnTo>
                    <a:pt x="14630400" y="0"/>
                  </a:lnTo>
                  <a:lnTo>
                    <a:pt x="14630400" y="1547978"/>
                  </a:lnTo>
                  <a:lnTo>
                    <a:pt x="0" y="15479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6902" b="-131415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4630400" cy="1547977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7319"/>
                </a:lnSpc>
              </a:pPr>
              <a:r>
                <a:rPr lang="he-IL" sz="60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מסקנות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40052" y="2940194"/>
            <a:ext cx="15773400" cy="678423"/>
            <a:chOff x="0" y="-19050"/>
            <a:chExt cx="21031200" cy="904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031200" cy="885513"/>
            </a:xfrm>
            <a:custGeom>
              <a:avLst/>
              <a:gdLst/>
              <a:ahLst/>
              <a:cxnLst/>
              <a:rect l="l" t="t" r="r" b="b"/>
              <a:pathLst>
                <a:path w="21031200" h="885513">
                  <a:moveTo>
                    <a:pt x="0" y="0"/>
                  </a:moveTo>
                  <a:lnTo>
                    <a:pt x="21031200" y="0"/>
                  </a:lnTo>
                  <a:lnTo>
                    <a:pt x="21031200" y="885513"/>
                  </a:lnTo>
                  <a:lnTo>
                    <a:pt x="0" y="8855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21470" b="-40408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1031200" cy="904563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899"/>
                </a:lnSpc>
              </a:pPr>
              <a:r>
                <a:rPr lang="he-IL" sz="324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מה למדנו, ומה המגבלות לשקיפות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0" r="-1520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58" name="Picture 57" descr="bg-2-cont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87552" y="932688"/>
            <a:ext cx="16308324" cy="874090"/>
            <a:chOff x="0" y="0"/>
            <a:chExt cx="21744432" cy="11654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44432" cy="1165453"/>
            </a:xfrm>
            <a:custGeom>
              <a:avLst/>
              <a:gdLst/>
              <a:ahLst/>
              <a:cxnLst/>
              <a:rect l="l" t="t" r="r" b="b"/>
              <a:pathLst>
                <a:path w="21744432" h="1165453">
                  <a:moveTo>
                    <a:pt x="0" y="0"/>
                  </a:moveTo>
                  <a:lnTo>
                    <a:pt x="21744432" y="0"/>
                  </a:lnTo>
                  <a:lnTo>
                    <a:pt x="21744432" y="1165453"/>
                  </a:lnTo>
                  <a:lnTo>
                    <a:pt x="0" y="116545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24312" b="-30277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1744432" cy="1165453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5519"/>
                </a:lnSpc>
              </a:pPr>
              <a:r>
                <a:rPr lang="he-IL" sz="45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ארבע מסקנות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5646" y="1743742"/>
            <a:ext cx="16332137" cy="23812"/>
            <a:chOff x="0" y="0"/>
            <a:chExt cx="21776182" cy="317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6182" cy="31750"/>
            </a:xfrm>
            <a:custGeom>
              <a:avLst/>
              <a:gdLst/>
              <a:ahLst/>
              <a:cxnLst/>
              <a:rect l="l" t="t" r="r" b="b"/>
              <a:pathLst>
                <a:path w="21776182" h="31750">
                  <a:moveTo>
                    <a:pt x="0" y="0"/>
                  </a:moveTo>
                  <a:lnTo>
                    <a:pt x="21776182" y="3175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t="-13314086" b="-13314086"/>
              </a:stretch>
            </a:blipFill>
            <a:ln w="23812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7552" y="9586912"/>
            <a:ext cx="5486400" cy="398336"/>
            <a:chOff x="0" y="-19050"/>
            <a:chExt cx="7315200" cy="5311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57" b="-22835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472916" y="9586912"/>
            <a:ext cx="822960" cy="398336"/>
            <a:chOff x="0" y="-19050"/>
            <a:chExt cx="1097280" cy="531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874" r="-9874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09728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19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719804" y="2008537"/>
            <a:ext cx="576072" cy="761925"/>
            <a:chOff x="0" y="-28575"/>
            <a:chExt cx="768096" cy="10159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8096" cy="987326"/>
            </a:xfrm>
            <a:custGeom>
              <a:avLst/>
              <a:gdLst/>
              <a:ahLst/>
              <a:cxnLst/>
              <a:rect l="l" t="t" r="r" b="b"/>
              <a:pathLst>
                <a:path w="768096" h="987326">
                  <a:moveTo>
                    <a:pt x="0" y="0"/>
                  </a:moveTo>
                  <a:lnTo>
                    <a:pt x="768096" y="0"/>
                  </a:lnTo>
                  <a:lnTo>
                    <a:pt x="768096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2193" r="-72193" b="2590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68096" cy="101590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03436" y="2187463"/>
            <a:ext cx="7338060" cy="528089"/>
            <a:chOff x="0" y="-9525"/>
            <a:chExt cx="9784080" cy="7041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784080" cy="694593"/>
            </a:xfrm>
            <a:custGeom>
              <a:avLst/>
              <a:gdLst/>
              <a:ahLst/>
              <a:cxnLst/>
              <a:rect l="l" t="t" r="r" b="b"/>
              <a:pathLst>
                <a:path w="9784080" h="694593">
                  <a:moveTo>
                    <a:pt x="0" y="0"/>
                  </a:moveTo>
                  <a:lnTo>
                    <a:pt x="9784080" y="0"/>
                  </a:lnTo>
                  <a:lnTo>
                    <a:pt x="9784080" y="694593"/>
                  </a:lnTo>
                  <a:lnTo>
                    <a:pt x="0" y="6945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91" b="-22054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784080" cy="704118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המודל אמין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03436" y="2604897"/>
            <a:ext cx="7338060" cy="1194435"/>
            <a:chOff x="0" y="-38100"/>
            <a:chExt cx="9784080" cy="15925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84080" cy="1554480"/>
            </a:xfrm>
            <a:custGeom>
              <a:avLst/>
              <a:gdLst/>
              <a:ahLst/>
              <a:cxnLst/>
              <a:rect l="l" t="t" r="r" b="b"/>
              <a:pathLst>
                <a:path w="9784080" h="1554480">
                  <a:moveTo>
                    <a:pt x="0" y="0"/>
                  </a:moveTo>
                  <a:lnTo>
                    <a:pt x="9784080" y="0"/>
                  </a:lnTo>
                  <a:lnTo>
                    <a:pt x="978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2641" b="-7264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784080" cy="159258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בסף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0.8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האוכלוסייה מגיעה ל-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Hit Rate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כ-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90%</a:t>
              </a:r>
              <a:r>
                <a:rPr lang="ar-EG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(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85.7%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עיוור), ומנצחת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בפער עצום,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0.95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מול 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0.53</a:t>
              </a:r>
              <a:r>
                <a:rPr lang="ar-EG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43316" y="2063401"/>
            <a:ext cx="576072" cy="761925"/>
            <a:chOff x="0" y="-28575"/>
            <a:chExt cx="768096" cy="101590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68096" cy="987326"/>
            </a:xfrm>
            <a:custGeom>
              <a:avLst/>
              <a:gdLst/>
              <a:ahLst/>
              <a:cxnLst/>
              <a:rect l="l" t="t" r="r" b="b"/>
              <a:pathLst>
                <a:path w="768096" h="987326">
                  <a:moveTo>
                    <a:pt x="0" y="0"/>
                  </a:moveTo>
                  <a:lnTo>
                    <a:pt x="768096" y="0"/>
                  </a:lnTo>
                  <a:lnTo>
                    <a:pt x="768096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2193" r="-72193" b="2590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768096" cy="101590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4281" y="2187463"/>
            <a:ext cx="7338060" cy="528089"/>
            <a:chOff x="0" y="-9525"/>
            <a:chExt cx="9784080" cy="70411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784080" cy="694593"/>
            </a:xfrm>
            <a:custGeom>
              <a:avLst/>
              <a:gdLst/>
              <a:ahLst/>
              <a:cxnLst/>
              <a:rect l="l" t="t" r="r" b="b"/>
              <a:pathLst>
                <a:path w="9784080" h="694593">
                  <a:moveTo>
                    <a:pt x="0" y="0"/>
                  </a:moveTo>
                  <a:lnTo>
                    <a:pt x="9784080" y="0"/>
                  </a:lnTo>
                  <a:lnTo>
                    <a:pt x="9784080" y="694593"/>
                  </a:lnTo>
                  <a:lnTo>
                    <a:pt x="0" y="6945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91" b="-22054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9784080" cy="704118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רוויה של לייבלים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26948" y="2604897"/>
            <a:ext cx="7338060" cy="1194435"/>
            <a:chOff x="0" y="-38100"/>
            <a:chExt cx="9784080" cy="15925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84080" cy="1554480"/>
            </a:xfrm>
            <a:custGeom>
              <a:avLst/>
              <a:gdLst/>
              <a:ahLst/>
              <a:cxnLst/>
              <a:rect l="l" t="t" r="r" b="b"/>
              <a:pathLst>
                <a:path w="9784080" h="1554480">
                  <a:moveTo>
                    <a:pt x="0" y="0"/>
                  </a:moveTo>
                  <a:lnTo>
                    <a:pt x="9784080" y="0"/>
                  </a:lnTo>
                  <a:lnTo>
                    <a:pt x="978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2641" b="-7264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784080" cy="159258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מעבר ל-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300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לייבלים בקירוב, תוספת דוגמאות לבדה לא שיפרה, וקריטריון העצירה זיהה זאת נכון.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719804" y="4134517"/>
            <a:ext cx="576072" cy="761925"/>
            <a:chOff x="0" y="-28575"/>
            <a:chExt cx="768096" cy="101590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8096" cy="987326"/>
            </a:xfrm>
            <a:custGeom>
              <a:avLst/>
              <a:gdLst/>
              <a:ahLst/>
              <a:cxnLst/>
              <a:rect l="l" t="t" r="r" b="b"/>
              <a:pathLst>
                <a:path w="768096" h="987326">
                  <a:moveTo>
                    <a:pt x="0" y="0"/>
                  </a:moveTo>
                  <a:lnTo>
                    <a:pt x="768096" y="0"/>
                  </a:lnTo>
                  <a:lnTo>
                    <a:pt x="768096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2193" r="-72193" b="2590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768096" cy="101590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81744" y="4258579"/>
            <a:ext cx="7338060" cy="528089"/>
            <a:chOff x="0" y="-9525"/>
            <a:chExt cx="9784080" cy="70411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84080" cy="694593"/>
            </a:xfrm>
            <a:custGeom>
              <a:avLst/>
              <a:gdLst/>
              <a:ahLst/>
              <a:cxnLst/>
              <a:rect l="l" t="t" r="r" b="b"/>
              <a:pathLst>
                <a:path w="9784080" h="694593">
                  <a:moveTo>
                    <a:pt x="0" y="0"/>
                  </a:moveTo>
                  <a:lnTo>
                    <a:pt x="9784080" y="0"/>
                  </a:lnTo>
                  <a:lnTo>
                    <a:pt x="9784080" y="694593"/>
                  </a:lnTo>
                  <a:lnTo>
                    <a:pt x="0" y="6945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91" b="-22054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9784080" cy="704118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פיצ'רים גוברים על דאטה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03436" y="4730877"/>
            <a:ext cx="7338060" cy="1194435"/>
            <a:chOff x="0" y="-38100"/>
            <a:chExt cx="9784080" cy="15925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784080" cy="1554480"/>
            </a:xfrm>
            <a:custGeom>
              <a:avLst/>
              <a:gdLst/>
              <a:ahLst/>
              <a:cxnLst/>
              <a:rect l="l" t="t" r="r" b="b"/>
              <a:pathLst>
                <a:path w="9784080" h="1554480">
                  <a:moveTo>
                    <a:pt x="0" y="0"/>
                  </a:moveTo>
                  <a:lnTo>
                    <a:pt x="9784080" y="0"/>
                  </a:lnTo>
                  <a:lnTo>
                    <a:pt x="978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2641" b="-7264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9784080" cy="159258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לקסיקון ספציפי-איראני העלה את ה-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AUC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מ-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0.76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ל-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0.89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. צוואר הבקבוק היה הייצוג, לא הכמות.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243316" y="4052174"/>
            <a:ext cx="576072" cy="761925"/>
            <a:chOff x="0" y="-28575"/>
            <a:chExt cx="768096" cy="101590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68096" cy="987326"/>
            </a:xfrm>
            <a:custGeom>
              <a:avLst/>
              <a:gdLst/>
              <a:ahLst/>
              <a:cxnLst/>
              <a:rect l="l" t="t" r="r" b="b"/>
              <a:pathLst>
                <a:path w="768096" h="987326">
                  <a:moveTo>
                    <a:pt x="0" y="0"/>
                  </a:moveTo>
                  <a:lnTo>
                    <a:pt x="768096" y="0"/>
                  </a:lnTo>
                  <a:lnTo>
                    <a:pt x="768096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2193" r="-72193" b="25908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768096" cy="1015901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26948" y="4176236"/>
            <a:ext cx="7338060" cy="528089"/>
            <a:chOff x="0" y="-9525"/>
            <a:chExt cx="9784080" cy="70411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784080" cy="694593"/>
            </a:xfrm>
            <a:custGeom>
              <a:avLst/>
              <a:gdLst/>
              <a:ahLst/>
              <a:cxnLst/>
              <a:rect l="l" t="t" r="r" b="b"/>
              <a:pathLst>
                <a:path w="9784080" h="694593">
                  <a:moveTo>
                    <a:pt x="0" y="0"/>
                  </a:moveTo>
                  <a:lnTo>
                    <a:pt x="9784080" y="0"/>
                  </a:lnTo>
                  <a:lnTo>
                    <a:pt x="9784080" y="694593"/>
                  </a:lnTo>
                  <a:lnTo>
                    <a:pt x="0" y="6945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8391" b="-22054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9784080" cy="704118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060"/>
                </a:lnSpc>
              </a:pPr>
              <a:r>
                <a:rPr lang="he-IL" sz="25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מבנה האוכלוסייה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6948" y="4730877"/>
            <a:ext cx="7338060" cy="1194435"/>
            <a:chOff x="0" y="-38100"/>
            <a:chExt cx="9784080" cy="15925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784080" cy="1554480"/>
            </a:xfrm>
            <a:custGeom>
              <a:avLst/>
              <a:gdLst/>
              <a:ahLst/>
              <a:cxnLst/>
              <a:rect l="l" t="t" r="r" b="b"/>
              <a:pathLst>
                <a:path w="9784080" h="1554480">
                  <a:moveTo>
                    <a:pt x="0" y="0"/>
                  </a:moveTo>
                  <a:lnTo>
                    <a:pt x="9784080" y="0"/>
                  </a:lnTo>
                  <a:lnTo>
                    <a:pt x="978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2641" b="-72641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9784080" cy="159258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850"/>
                </a:lnSpc>
              </a:pP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האשכולות העשירים ב-</a:t>
              </a:r>
              <a:r>
                <a:rPr lang="en-US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</a:t>
              </a:r>
              <a:r>
                <a:rPr lang="he-IL" sz="2100" b="1">
                  <a:solidFill>
                    <a:srgbClr val="33415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 הם בדיוק האיראנים המקומיים, אישוש עצמאי שהפיצ'רים אמיתיים.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78027" y="6505575"/>
            <a:ext cx="16341090" cy="1390650"/>
            <a:chOff x="0" y="0"/>
            <a:chExt cx="21788120" cy="1854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788120" cy="1854200"/>
            </a:xfrm>
            <a:custGeom>
              <a:avLst/>
              <a:gdLst/>
              <a:ahLst/>
              <a:cxnLst/>
              <a:rect l="l" t="t" r="r" b="b"/>
              <a:pathLst>
                <a:path w="21788120" h="185420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1676868" y="0"/>
                  </a:lnTo>
                  <a:cubicBezTo>
                    <a:pt x="21738335" y="0"/>
                    <a:pt x="21788120" y="49784"/>
                    <a:pt x="21788120" y="111252"/>
                  </a:cubicBezTo>
                  <a:lnTo>
                    <a:pt x="21788120" y="1742948"/>
                  </a:lnTo>
                  <a:cubicBezTo>
                    <a:pt x="21788120" y="1804416"/>
                    <a:pt x="21738335" y="1854200"/>
                    <a:pt x="21676868" y="1854200"/>
                  </a:cubicBezTo>
                  <a:lnTo>
                    <a:pt x="111252" y="1854200"/>
                  </a:lnTo>
                  <a:cubicBezTo>
                    <a:pt x="49784" y="1854200"/>
                    <a:pt x="0" y="1804416"/>
                    <a:pt x="0" y="1742948"/>
                  </a:cubicBezTo>
                  <a:close/>
                </a:path>
              </a:pathLst>
            </a:custGeom>
            <a:solidFill>
              <a:srgbClr val="F4F1E8"/>
            </a:solidFill>
            <a:ln w="19050" cap="sq">
              <a:solidFill>
                <a:srgbClr val="D7D2C8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99032" y="6706552"/>
            <a:ext cx="15499080" cy="398336"/>
            <a:chOff x="0" y="-19050"/>
            <a:chExt cx="20665440" cy="53111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665439" cy="512064"/>
            </a:xfrm>
            <a:custGeom>
              <a:avLst/>
              <a:gdLst/>
              <a:ahLst/>
              <a:cxnLst/>
              <a:rect l="l" t="t" r="r" b="b"/>
              <a:pathLst>
                <a:path w="20665439" h="512064">
                  <a:moveTo>
                    <a:pt x="0" y="0"/>
                  </a:moveTo>
                  <a:lnTo>
                    <a:pt x="20665439" y="0"/>
                  </a:lnTo>
                  <a:lnTo>
                    <a:pt x="2066543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36360" b="-73636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20665440" cy="53111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160"/>
                </a:lnSpc>
              </a:pPr>
              <a:r>
                <a:rPr lang="he-IL" sz="1800" b="1">
                  <a:solidFill>
                    <a:srgbClr val="C8102E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מגבלות, לשקיפות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99032" y="7089457"/>
            <a:ext cx="15499080" cy="660083"/>
            <a:chOff x="0" y="-57150"/>
            <a:chExt cx="20665440" cy="88011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0665439" cy="822960"/>
            </a:xfrm>
            <a:custGeom>
              <a:avLst/>
              <a:gdLst/>
              <a:ahLst/>
              <a:cxnLst/>
              <a:rect l="l" t="t" r="r" b="b"/>
              <a:pathLst>
                <a:path w="20665439" h="822960">
                  <a:moveTo>
                    <a:pt x="0" y="0"/>
                  </a:moveTo>
                  <a:lnTo>
                    <a:pt x="20665439" y="0"/>
                  </a:lnTo>
                  <a:lnTo>
                    <a:pt x="206654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39290" b="-43929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57150"/>
              <a:ext cx="20665440" cy="88011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2700"/>
                </a:lnSpc>
              </a:pPr>
              <a:r>
                <a:rPr lang="he-IL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תיוג כפול מלא רק באיטרציה </a:t>
              </a:r>
              <a:r>
                <a:rPr lang="en-US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he-IL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(מ-</a:t>
              </a:r>
              <a:r>
                <a:rPr lang="en-US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he-IL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ואילך מתייג יחיד עקב מילואים).  </a:t>
              </a:r>
              <a:r>
                <a:rPr lang="en-US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locals_vs_diaspora</a:t>
              </a:r>
              <a:r>
                <a:rPr lang="he-IL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לרוב </a:t>
              </a:r>
              <a:r>
                <a:rPr lang="en-US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unknown</a:t>
              </a:r>
              <a:r>
                <a:rPr lang="he-IL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,  כיסוי סנטימנט כ-</a:t>
              </a:r>
              <a:r>
                <a:rPr lang="en-US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r>
                <a:rPr lang="he-IL" sz="1950">
                  <a:solidFill>
                    <a:srgbClr val="33415C"/>
                  </a:solidFill>
                  <a:latin typeface="Arial"/>
                  <a:ea typeface="Arial"/>
                  <a:cs typeface="Arial"/>
                  <a:sym typeface="Arial"/>
                  <a:rtl/>
                </a:rPr>
                <a:t> מהיוזרים.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1" b="-781"/>
            </a:stretch>
          </a:blip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Picture 15" descr="bg-3-sec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-4848757" y="3354820"/>
            <a:ext cx="20103389" cy="2905509"/>
            <a:chOff x="0" y="9525"/>
            <a:chExt cx="26804519" cy="3874013"/>
          </a:xfrm>
        </p:grpSpPr>
        <p:sp>
          <p:nvSpPr>
            <p:cNvPr id="8" name="Freeform 8"/>
            <p:cNvSpPr/>
            <p:nvPr/>
          </p:nvSpPr>
          <p:spPr>
            <a:xfrm>
              <a:off x="0" y="1983619"/>
              <a:ext cx="26804519" cy="1899919"/>
            </a:xfrm>
            <a:custGeom>
              <a:avLst/>
              <a:gdLst/>
              <a:ahLst/>
              <a:cxnLst/>
              <a:rect l="l" t="t" r="r" b="b"/>
              <a:pathLst>
                <a:path w="26804519" h="1899919">
                  <a:moveTo>
                    <a:pt x="0" y="0"/>
                  </a:moveTo>
                  <a:lnTo>
                    <a:pt x="26804519" y="0"/>
                  </a:lnTo>
                  <a:lnTo>
                    <a:pt x="26804519" y="1899919"/>
                  </a:lnTo>
                  <a:lnTo>
                    <a:pt x="0" y="18999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79876" r="18809" b="-166507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6804518" cy="1890394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8999"/>
                </a:lnSpc>
              </a:pPr>
              <a:r>
                <a:rPr lang="he-IL" sz="7499">
                  <a:solidFill>
                    <a:srgbClr val="000000"/>
                  </a:solidFill>
                  <a:latin typeface="Suez One"/>
                  <a:ea typeface="Suez One"/>
                  <a:cs typeface="Suez One"/>
                  <a:sym typeface="Suez One"/>
                  <a:rtl/>
                </a:rPr>
                <a:t>תודה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7552" y="5197792"/>
            <a:ext cx="16322040" cy="700088"/>
            <a:chOff x="0" y="-19050"/>
            <a:chExt cx="21762720" cy="9334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62720" cy="914400"/>
            </a:xfrm>
            <a:custGeom>
              <a:avLst/>
              <a:gdLst/>
              <a:ahLst/>
              <a:cxnLst/>
              <a:rect l="l" t="t" r="r" b="b"/>
              <a:pathLst>
                <a:path w="21762720" h="91440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13743" b="-413743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1762720" cy="933450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7552" y="8962549"/>
            <a:ext cx="16322040" cy="682821"/>
            <a:chOff x="0" y="-28575"/>
            <a:chExt cx="21762720" cy="9104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62720" cy="881854"/>
            </a:xfrm>
            <a:custGeom>
              <a:avLst/>
              <a:gdLst/>
              <a:ahLst/>
              <a:cxnLst/>
              <a:rect l="l" t="t" r="r" b="b"/>
              <a:pathLst>
                <a:path w="21762720" h="881854">
                  <a:moveTo>
                    <a:pt x="0" y="0"/>
                  </a:moveTo>
                  <a:lnTo>
                    <a:pt x="21762720" y="0"/>
                  </a:lnTo>
                  <a:lnTo>
                    <a:pt x="21762720" y="881854"/>
                  </a:lnTo>
                  <a:lnTo>
                    <a:pt x="0" y="8818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4567" b="-417150"/>
              </a:stretch>
            </a:blip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1762720" cy="910429"/>
            </a:xfrm>
            <a:prstGeom prst="rect">
              <a:avLst/>
            </a:prstGeom>
            <a:ln/>
          </p:spPr>
          <p:txBody>
            <a:bodyPr lIns="0" tIns="0" rIns="0" bIns="0" rtlCol="0" anchor="ctr"/>
            <a:lstStyle/>
            <a:p>
              <a:pPr algn="r" rtl="1">
                <a:lnSpc>
                  <a:spcPts val="3839"/>
                </a:lnSpc>
              </a:pPr>
              <a:r>
                <a:rPr lang="he-IL" sz="3199" b="1">
                  <a:solidFill>
                    <a:srgbClr val="AEB8CC"/>
                  </a:solidFill>
                  <a:latin typeface="Arial Bold"/>
                  <a:ea typeface="Arial Bold"/>
                  <a:cs typeface="Arial Bold"/>
                  <a:sym typeface="Arial Bold"/>
                  <a:rtl/>
                </a:rPr>
                <a:t>נדב אילוז   |   נדב מגן 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2022</Words>
  <Application>Microsoft Macintosh PowerPoint</Application>
  <PresentationFormat>Custom</PresentationFormat>
  <Paragraphs>335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Suez One</vt:lpstr>
      <vt:lpstr>Arial Bold</vt:lpstr>
      <vt:lpstr>Calibri</vt:lpstr>
      <vt:lpstr>Arial</vt:lpstr>
      <vt:lpstr>Arial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Iran_POI_Presentation-2.pptx</dc:title>
  <cp:lastModifiedBy>Nadav Iloz</cp:lastModifiedBy>
  <cp:revision>32</cp:revision>
  <dcterms:created xsi:type="dcterms:W3CDTF">2006-08-16T00:00:00Z</dcterms:created>
  <dcterms:modified xsi:type="dcterms:W3CDTF">2026-07-18T18:25:00Z</dcterms:modified>
  <dc:identifier>DAHPuDRmWvQ</dc:identifier>
</cp:coreProperties>
</file>